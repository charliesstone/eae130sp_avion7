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Average"/>
      <p:regular r:id="rId31"/>
    </p:embeddedFont>
    <p:embeddedFont>
      <p:font typeface="Oswald"/>
      <p:regular r:id="rId32"/>
      <p:bold r:id="rId33"/>
    </p:embeddedFont>
    <p:embeddedFont>
      <p:font typeface="DM Serif Display"/>
      <p:regular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AF179C-04D0-425A-BDEA-48C4E38188FD}">
  <a:tblStyle styleId="{14AF179C-04D0-425A-BDEA-48C4E38188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Average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swald-bold.fntdata"/><Relationship Id="rId10" Type="http://schemas.openxmlformats.org/officeDocument/2006/relationships/slide" Target="slides/slide4.xml"/><Relationship Id="rId32" Type="http://schemas.openxmlformats.org/officeDocument/2006/relationships/font" Target="fonts/Oswald-regular.fntdata"/><Relationship Id="rId13" Type="http://schemas.openxmlformats.org/officeDocument/2006/relationships/slide" Target="slides/slide7.xml"/><Relationship Id="rId35" Type="http://schemas.openxmlformats.org/officeDocument/2006/relationships/font" Target="fonts/DMSerifDisplay-italic.fntdata"/><Relationship Id="rId12" Type="http://schemas.openxmlformats.org/officeDocument/2006/relationships/slide" Target="slides/slide6.xml"/><Relationship Id="rId34" Type="http://schemas.openxmlformats.org/officeDocument/2006/relationships/font" Target="fonts/DMSerifDisplay-regular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d1a910da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d1a910da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1a910dad_2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1a910dad_2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Harvey said: we do not need to include a slide about the RFP; it can just be referenced through the other slides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1a910dad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d1a910dad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1a910dad_2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1a910dad_2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e5efde5a0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e5efde5a0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e5efde5a0_3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e5efde5a0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e5efde5a0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e5efde5a0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ce5efde5a0_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ce5efde5a0_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aaad5a3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aaad5a3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eaaad5a3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eaaad5a3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eaaad5a3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eaaad5a3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e5efde5a0_3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e5efde5a0_3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d1a910dad_2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d1a910dad_2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1a910dad_2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d1a910dad_2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Quin also maybe? Well talk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e4ee1fdbe_4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e4ee1fdbe_4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cd1a910dad_2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cd1a910dad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ceaaad5a3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ceaaad5a3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eaaad5a31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eaaad5a31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eaaad5a31_2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eaaad5a31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eaaad5a31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eaaad5a31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eaaad5a31_2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ceaaad5a31_2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eaaad5a31_2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eaaad5a31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d1a910dad_2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d1a910dad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2" name="Google Shape;12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" name="Google Shape;42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">
            <a:alphaModFix/>
          </a:blip>
          <a:srcRect b="9849" l="0" r="0" t="8352"/>
          <a:stretch/>
        </p:blipFill>
        <p:spPr>
          <a:xfrm>
            <a:off x="8068100" y="4085725"/>
            <a:ext cx="983400" cy="953400"/>
          </a:xfrm>
          <a:prstGeom prst="ellipse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Charlie Stone  ∙  Valeria Cecena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∙  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Quinn Kennerly</a:t>
            </a:r>
            <a:endParaRPr sz="320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Lena Pattamadilok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∙  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Jose Hernandez Negrete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 ∙  </a:t>
            </a:r>
            <a:r>
              <a:rPr lang="en" sz="3200">
                <a:solidFill>
                  <a:schemeClr val="accent6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Mostafa Hashem</a:t>
            </a:r>
            <a:endParaRPr sz="3200">
              <a:solidFill>
                <a:schemeClr val="accent6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1" name="Google Shape;61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>
                <a:solidFill>
                  <a:schemeClr val="accent6"/>
                </a:solidFill>
              </a:rPr>
              <a:t>AVION</a:t>
            </a:r>
            <a:endParaRPr sz="5500">
              <a:solidFill>
                <a:schemeClr val="accent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6"/>
                </a:solidFill>
              </a:rPr>
              <a:t>Preliminary Design Review</a:t>
            </a:r>
            <a:endParaRPr sz="400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4528375" y="445025"/>
            <a:ext cx="4303800" cy="41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 Key Characteristics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→→ Detailed Part Overview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→→→</a:t>
            </a:r>
            <a:endParaRPr/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25" y="1785650"/>
            <a:ext cx="4017024" cy="231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 + RFP Mission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Objective: </a:t>
            </a:r>
            <a:r>
              <a:rPr lang="en">
                <a:solidFill>
                  <a:srgbClr val="000000"/>
                </a:solidFill>
              </a:rPr>
              <a:t>Design a </a:t>
            </a:r>
            <a:r>
              <a:rPr b="1" lang="en">
                <a:solidFill>
                  <a:schemeClr val="accent1"/>
                </a:solidFill>
              </a:rPr>
              <a:t>single-engine</a:t>
            </a:r>
            <a:r>
              <a:rPr lang="en">
                <a:solidFill>
                  <a:srgbClr val="000000"/>
                </a:solidFill>
              </a:rPr>
              <a:t> carrier-capable supersonic strike aircraft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RFP </a:t>
            </a:r>
            <a:r>
              <a:rPr b="1" lang="en">
                <a:solidFill>
                  <a:schemeClr val="accent1"/>
                </a:solidFill>
              </a:rPr>
              <a:t>Requirements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Mach </a:t>
            </a:r>
            <a:r>
              <a:rPr b="1" lang="en">
                <a:solidFill>
                  <a:schemeClr val="accent1"/>
                </a:solidFill>
              </a:rPr>
              <a:t>1.6-2.0</a:t>
            </a:r>
            <a:r>
              <a:rPr lang="en">
                <a:solidFill>
                  <a:srgbClr val="000000"/>
                </a:solidFill>
              </a:rPr>
              <a:t> high altitude dash capability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Carrier </a:t>
            </a:r>
            <a:r>
              <a:rPr lang="en">
                <a:solidFill>
                  <a:srgbClr val="000000"/>
                </a:solidFill>
              </a:rPr>
              <a:t>compatible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configuration</a:t>
            </a: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TOGW under </a:t>
            </a:r>
            <a:r>
              <a:rPr b="1" lang="en">
                <a:solidFill>
                  <a:schemeClr val="accent1"/>
                </a:solidFill>
              </a:rPr>
              <a:t>90,000 lbs </a:t>
            </a:r>
            <a:endParaRPr b="1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700-1000 nm.</a:t>
            </a:r>
            <a:r>
              <a:rPr lang="en">
                <a:solidFill>
                  <a:srgbClr val="000000"/>
                </a:solidFill>
              </a:rPr>
              <a:t> combat radius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r>
              <a:rPr lang="en"/>
              <a:t>ey Characteristics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YF-52 COYOTE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Affordability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Single engine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External avionics </a:t>
            </a:r>
            <a:endParaRPr/>
          </a:p>
        </p:txBody>
      </p:sp>
      <p:sp>
        <p:nvSpPr>
          <p:cNvPr id="81" name="Google Shape;81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(Comparable Aircraft) &lt;- replace with aircraft name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imensioned three-view drawing of the COYOTE</a:t>
            </a:r>
            <a:endParaRPr/>
          </a:p>
        </p:txBody>
      </p:sp>
      <p:pic>
        <p:nvPicPr>
          <p:cNvPr id="87" name="Google Shape;87;p17" title="COYOTE_3D_VIE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450" y="1017725"/>
            <a:ext cx="693294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Fuselage</a:t>
            </a:r>
            <a:endParaRPr/>
          </a:p>
        </p:txBody>
      </p:sp>
      <p:pic>
        <p:nvPicPr>
          <p:cNvPr id="93" name="Google Shape;93;p18" title="Fuselage-Bottom View.drawio.png"/>
          <p:cNvPicPr preferRelativeResize="0"/>
          <p:nvPr/>
        </p:nvPicPr>
        <p:blipFill rotWithShape="1">
          <a:blip r:embed="rId3">
            <a:alphaModFix/>
          </a:blip>
          <a:srcRect b="0" l="1694" r="2079" t="3335"/>
          <a:stretch/>
        </p:blipFill>
        <p:spPr>
          <a:xfrm>
            <a:off x="0" y="2724150"/>
            <a:ext cx="4165924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 title="Fuselage-Top View.drawio.png"/>
          <p:cNvPicPr preferRelativeResize="0"/>
          <p:nvPr/>
        </p:nvPicPr>
        <p:blipFill rotWithShape="1">
          <a:blip r:embed="rId4">
            <a:alphaModFix/>
          </a:blip>
          <a:srcRect b="0" l="6430" r="2752" t="13614"/>
          <a:stretch/>
        </p:blipFill>
        <p:spPr>
          <a:xfrm>
            <a:off x="4102125" y="2879625"/>
            <a:ext cx="3957248" cy="217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 title="Fuselage-Left View.drawio.png"/>
          <p:cNvPicPr preferRelativeResize="0"/>
          <p:nvPr/>
        </p:nvPicPr>
        <p:blipFill rotWithShape="1">
          <a:blip r:embed="rId5">
            <a:alphaModFix/>
          </a:blip>
          <a:srcRect b="5022" l="6537" r="6537" t="16014"/>
          <a:stretch/>
        </p:blipFill>
        <p:spPr>
          <a:xfrm>
            <a:off x="2137075" y="0"/>
            <a:ext cx="5605350" cy="2933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Powertrain</a:t>
            </a:r>
            <a:endParaRPr/>
          </a:p>
        </p:txBody>
      </p:sp>
      <p:pic>
        <p:nvPicPr>
          <p:cNvPr id="101" name="Google Shape;101;p19" title="Powertain-Powertrain Top View.drawio.png"/>
          <p:cNvPicPr preferRelativeResize="0"/>
          <p:nvPr/>
        </p:nvPicPr>
        <p:blipFill rotWithShape="1">
          <a:blip r:embed="rId3">
            <a:alphaModFix/>
          </a:blip>
          <a:srcRect b="0" l="1691" r="0" t="23780"/>
          <a:stretch/>
        </p:blipFill>
        <p:spPr>
          <a:xfrm>
            <a:off x="1847325" y="85025"/>
            <a:ext cx="7296676" cy="326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 title="Powertain-Powertrain Left View.drawio.png"/>
          <p:cNvPicPr preferRelativeResize="0"/>
          <p:nvPr/>
        </p:nvPicPr>
        <p:blipFill rotWithShape="1">
          <a:blip r:embed="rId4">
            <a:alphaModFix/>
          </a:blip>
          <a:srcRect b="0" l="0" r="0" t="26492"/>
          <a:stretch/>
        </p:blipFill>
        <p:spPr>
          <a:xfrm>
            <a:off x="0" y="2334775"/>
            <a:ext cx="6603674" cy="28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Surfaces</a:t>
            </a:r>
            <a:endParaRPr/>
          </a:p>
        </p:txBody>
      </p:sp>
      <p:pic>
        <p:nvPicPr>
          <p:cNvPr id="108" name="Google Shape;108;p20" title="Control Surfaces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6148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Empennage</a:t>
            </a:r>
            <a:endParaRPr/>
          </a:p>
        </p:txBody>
      </p:sp>
      <p:pic>
        <p:nvPicPr>
          <p:cNvPr id="114" name="Google Shape;114;p21" title="Empennage-Empennage Vertical Stab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21200"/>
            <a:ext cx="4717901" cy="272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 title="Empennage-Empennage Horizantal Stab.drawio.png"/>
          <p:cNvPicPr preferRelativeResize="0"/>
          <p:nvPr/>
        </p:nvPicPr>
        <p:blipFill rotWithShape="1">
          <a:blip r:embed="rId4">
            <a:alphaModFix/>
          </a:blip>
          <a:srcRect b="0" l="7981" r="13073" t="0"/>
          <a:stretch/>
        </p:blipFill>
        <p:spPr>
          <a:xfrm>
            <a:off x="4344600" y="0"/>
            <a:ext cx="4835625" cy="3535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 title="COYOTE-COYOTE Top View.drawio.png"/>
          <p:cNvPicPr preferRelativeResize="0"/>
          <p:nvPr/>
        </p:nvPicPr>
        <p:blipFill rotWithShape="1">
          <a:blip r:embed="rId3">
            <a:alphaModFix/>
          </a:blip>
          <a:srcRect b="0" l="0" r="0" t="1604"/>
          <a:stretch/>
        </p:blipFill>
        <p:spPr>
          <a:xfrm>
            <a:off x="0" y="226375"/>
            <a:ext cx="7973228" cy="4527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COYOTE-COYOTE Left View.drawio.png"/>
          <p:cNvPicPr preferRelativeResize="0"/>
          <p:nvPr/>
        </p:nvPicPr>
        <p:blipFill rotWithShape="1">
          <a:blip r:embed="rId3">
            <a:alphaModFix/>
          </a:blip>
          <a:srcRect b="0" l="1410" r="0" t="1826"/>
          <a:stretch/>
        </p:blipFill>
        <p:spPr>
          <a:xfrm>
            <a:off x="0" y="249675"/>
            <a:ext cx="8028452" cy="462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 title="COYOTE-COYOTE Bottom View A2A.drawio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50" y="334188"/>
            <a:ext cx="7780173" cy="447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COYOTE-COYOTE Bottom View Strike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50" y="353175"/>
            <a:ext cx="7688074" cy="4437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Thrust–area (T–S) graph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Will have notes, but should primarily focus on the graph and be able to explain what each component means 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(please please please let charlie do this one)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r>
              <a:rPr lang="en"/>
              <a:t>rag Polar Model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3588325"/>
            <a:ext cx="85206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Drag polar used for </a:t>
            </a:r>
            <a:r>
              <a:rPr b="1" lang="en">
                <a:solidFill>
                  <a:schemeClr val="accent1"/>
                </a:solidFill>
              </a:rPr>
              <a:t>first-order preliminary sizing</a:t>
            </a:r>
            <a:endParaRPr b="1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CD0 </a:t>
            </a:r>
            <a:r>
              <a:rPr lang="en"/>
              <a:t>from </a:t>
            </a:r>
            <a:r>
              <a:rPr b="1" lang="en">
                <a:solidFill>
                  <a:schemeClr val="accent1"/>
                </a:solidFill>
              </a:rPr>
              <a:t>OpenVSP </a:t>
            </a:r>
            <a:r>
              <a:rPr lang="en"/>
              <a:t>parasite drag tool</a:t>
            </a:r>
            <a:r>
              <a:rPr lang="en">
                <a:solidFill>
                  <a:schemeClr val="accent1"/>
                </a:solidFill>
              </a:rPr>
              <a:t> </a:t>
            </a:r>
            <a:endParaRPr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Induced drag</a:t>
            </a:r>
            <a:r>
              <a:rPr lang="en"/>
              <a:t> found with </a:t>
            </a:r>
            <a:r>
              <a:rPr b="1" lang="en">
                <a:solidFill>
                  <a:schemeClr val="accent1"/>
                </a:solidFill>
              </a:rPr>
              <a:t>finite wing</a:t>
            </a:r>
            <a:r>
              <a:rPr lang="en"/>
              <a:t> approximation </a:t>
            </a:r>
            <a:endParaRPr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525" y="1170125"/>
            <a:ext cx="4795231" cy="22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Drag Polar Plot </a:t>
            </a:r>
            <a:endParaRPr/>
          </a:p>
        </p:txBody>
      </p:sp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5038425" y="1286025"/>
            <a:ext cx="3794100" cy="308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Clean </a:t>
            </a:r>
            <a:r>
              <a:rPr lang="en"/>
              <a:t>configuration has </a:t>
            </a:r>
            <a:r>
              <a:rPr b="1" lang="en">
                <a:solidFill>
                  <a:schemeClr val="accent1"/>
                </a:solidFill>
              </a:rPr>
              <a:t>lowest drag</a:t>
            </a:r>
            <a:endParaRPr b="1">
              <a:solidFill>
                <a:schemeClr val="accen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accent1"/>
                </a:solidFill>
              </a:rPr>
              <a:t>High-lift </a:t>
            </a:r>
            <a:r>
              <a:rPr lang="en"/>
              <a:t>result in higher CD0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Landing configuration -&gt; largest drag increase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Gear deployment -&gt; more parasite drag </a:t>
            </a:r>
            <a:endParaRPr/>
          </a:p>
        </p:txBody>
      </p:sp>
      <p:pic>
        <p:nvPicPr>
          <p:cNvPr id="155" name="Google Shape;155;p28" title="Screenshot 2026-03-09 1300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86025"/>
            <a:ext cx="4407474" cy="30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answer: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your design meets or exceeds your stated objectives.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Major innovations in your design. (Strakes(LERX), </a:t>
            </a:r>
            <a:r>
              <a:rPr lang="en"/>
              <a:t>Diverterless</a:t>
            </a:r>
            <a:r>
              <a:rPr lang="en"/>
              <a:t> Supersonic Inlet intakes,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Risks (or open issues) and mitigation strategies.</a:t>
            </a:r>
            <a:br>
              <a:rPr lang="en"/>
            </a:br>
            <a:r>
              <a:rPr lang="en"/>
              <a:t>(engine sizing finding design </a:t>
            </a:r>
            <a:r>
              <a:rPr lang="en"/>
              <a:t>parameters</a:t>
            </a:r>
            <a:r>
              <a:rPr lang="en"/>
              <a:t> of EPU, single engine, extended development cycle for T/S,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our design meets RFP requirements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152475"/>
            <a:ext cx="390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Single-engine configuration (F135 class) reduces acquisition and life-cycle cost compared to twin-engine aircraft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Higher thrust-to-weight ratio (~0.91) improves maneuverability and acceleration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Combat radius ≥ 700 nmi achievable through efficient aerodynamic configuration and fuel fraction sizing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/>
        </p:nvSpPr>
        <p:spPr>
          <a:xfrm>
            <a:off x="4343725" y="1152475"/>
            <a:ext cx="4189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Sustained turn performance ≥ 8 deg/s meets maneuverability requirements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Carrier compatible geometry that satisfies both carriers (CVN-68 / CVN-78 ) operations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Mach 2 dash capability exceeds the required Mach 1.6</a:t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with existing aircrafts</a:t>
            </a:r>
            <a:endParaRPr/>
          </a:p>
        </p:txBody>
      </p:sp>
      <p:graphicFrame>
        <p:nvGraphicFramePr>
          <p:cNvPr id="174" name="Google Shape;174;p31"/>
          <p:cNvGraphicFramePr/>
          <p:nvPr/>
        </p:nvGraphicFramePr>
        <p:xfrm>
          <a:off x="791100" y="1362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{14AF179C-04D0-425A-BDEA-48C4E38188FD}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Parameter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Coyote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F/A - 18 E/F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F-35C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Engines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x F135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x F414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 x F135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Thrust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35,000 lbf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44,000 lbf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43,000 lbf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TOGW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37,000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66,000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70,000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Wing Area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 ft^2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 ft^2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670 ft^2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T/W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Max Speed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Mach 2.0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Mach 1.8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Mach 1.6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Unit cost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$55 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$73 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$100M +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Performance</a:t>
            </a:r>
            <a:r>
              <a:rPr lang="en"/>
              <a:t> Comparison</a:t>
            </a:r>
            <a:endParaRPr/>
          </a:p>
        </p:txBody>
      </p:sp>
      <p:graphicFrame>
        <p:nvGraphicFramePr>
          <p:cNvPr id="180" name="Google Shape;180;p32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{14AF179C-04D0-425A-BDEA-48C4E38188FD}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Feature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Coyote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Advantage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3.5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Maneuverability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Wing </a:t>
                      </a:r>
                      <a:r>
                        <a:rPr lang="en"/>
                        <a:t>loading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 80lb/ft^2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Supersonic drag opt.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Static Margin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Slightly</a:t>
                      </a:r>
                      <a:r>
                        <a:rPr lang="en"/>
                        <a:t> negative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Agility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LERX </a:t>
                      </a:r>
                      <a:r>
                        <a:rPr lang="en"/>
                        <a:t>area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 70 ft^2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High-alpha lift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Engine Type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Low-bypass turbofan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Supersonic dash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231000" y="100175"/>
            <a:ext cx="255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Innovations 	 </a:t>
            </a:r>
            <a:endParaRPr/>
          </a:p>
        </p:txBody>
      </p:sp>
      <p:sp>
        <p:nvSpPr>
          <p:cNvPr id="186" name="Google Shape;186;p33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Generate Vortices at high AOA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Delay flow separation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 lift and </a:t>
            </a:r>
            <a:r>
              <a:rPr lang="en"/>
              <a:t>maneuverability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Increased CLmax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Improved </a:t>
            </a:r>
            <a:r>
              <a:rPr lang="en"/>
              <a:t>dogfight</a:t>
            </a:r>
            <a:r>
              <a:rPr lang="en"/>
              <a:t> performance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Better carrier landing control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87" name="Google Shape;187;p33"/>
          <p:cNvSpPr txBox="1"/>
          <p:nvPr>
            <p:ph type="title"/>
          </p:nvPr>
        </p:nvSpPr>
        <p:spPr>
          <a:xfrm>
            <a:off x="1788750" y="643525"/>
            <a:ext cx="55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400050" lvl="0" marL="457200" rtl="0" algn="ctr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Strakes/ Leading-edge root extensions </a:t>
            </a:r>
            <a:endParaRPr/>
          </a:p>
        </p:txBody>
      </p:sp>
      <p:pic>
        <p:nvPicPr>
          <p:cNvPr id="188" name="Google Shape;188;p33"/>
          <p:cNvPicPr preferRelativeResize="0"/>
          <p:nvPr/>
        </p:nvPicPr>
        <p:blipFill rotWithShape="1">
          <a:blip r:embed="rId3">
            <a:alphaModFix/>
          </a:blip>
          <a:srcRect b="0" l="4317" r="34099" t="4288"/>
          <a:stretch/>
        </p:blipFill>
        <p:spPr>
          <a:xfrm>
            <a:off x="6781375" y="1216225"/>
            <a:ext cx="2362624" cy="2570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3"/>
          <p:cNvSpPr/>
          <p:nvPr/>
        </p:nvSpPr>
        <p:spPr>
          <a:xfrm>
            <a:off x="6882475" y="2127850"/>
            <a:ext cx="792300" cy="3594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0" name="Google Shape;190;p33"/>
          <p:cNvSpPr txBox="1"/>
          <p:nvPr/>
        </p:nvSpPr>
        <p:spPr>
          <a:xfrm>
            <a:off x="4660438" y="1460150"/>
            <a:ext cx="2032500" cy="26121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Aircrafts using similar system: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F/A - 18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Sukhoi Su-27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F-16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231000" y="100175"/>
            <a:ext cx="2550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Innovations 	 </a:t>
            </a:r>
            <a:endParaRPr/>
          </a:p>
        </p:txBody>
      </p:sp>
      <p:sp>
        <p:nvSpPr>
          <p:cNvPr id="196" name="Google Shape;196;p34"/>
          <p:cNvSpPr txBox="1"/>
          <p:nvPr>
            <p:ph idx="1" type="body"/>
          </p:nvPr>
        </p:nvSpPr>
        <p:spPr>
          <a:xfrm>
            <a:off x="333725" y="1145150"/>
            <a:ext cx="3907200" cy="3416400"/>
          </a:xfrm>
          <a:prstGeom prst="rect">
            <a:avLst/>
          </a:prstGeom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</a:t>
            </a:r>
            <a:r>
              <a:rPr lang="en"/>
              <a:t>duce weight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Lower drag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Improved stealth potential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Reduced maintenance costs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Fewer moving components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Aircrafts using similar system: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F-35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</a:t>
            </a:r>
            <a:r>
              <a:rPr lang="en"/>
              <a:t>ukhoi </a:t>
            </a:r>
            <a:r>
              <a:rPr lang="en"/>
              <a:t>Su-75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Chengdu </a:t>
            </a:r>
            <a:r>
              <a:rPr lang="en"/>
              <a:t>J-20</a:t>
            </a:r>
            <a:endParaRPr/>
          </a:p>
        </p:txBody>
      </p:sp>
      <p:sp>
        <p:nvSpPr>
          <p:cNvPr id="197" name="Google Shape;197;p34"/>
          <p:cNvSpPr txBox="1"/>
          <p:nvPr>
            <p:ph type="title"/>
          </p:nvPr>
        </p:nvSpPr>
        <p:spPr>
          <a:xfrm>
            <a:off x="1788750" y="643525"/>
            <a:ext cx="5566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 </a:t>
            </a:r>
            <a:r>
              <a:rPr lang="en"/>
              <a:t>Diverterless</a:t>
            </a:r>
            <a:r>
              <a:rPr lang="en"/>
              <a:t> supersonic Engine Intakes</a:t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074" y="1216225"/>
            <a:ext cx="3507926" cy="241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</a:t>
            </a:r>
            <a:endParaRPr/>
          </a:p>
        </p:txBody>
      </p:sp>
      <p:sp>
        <p:nvSpPr>
          <p:cNvPr id="204" name="Google Shape;204;p35"/>
          <p:cNvSpPr txBox="1"/>
          <p:nvPr/>
        </p:nvSpPr>
        <p:spPr>
          <a:xfrm>
            <a:off x="198100" y="1107950"/>
            <a:ext cx="2861700" cy="4329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Engine failure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5" name="Google Shape;205;p35"/>
          <p:cNvSpPr txBox="1"/>
          <p:nvPr/>
        </p:nvSpPr>
        <p:spPr>
          <a:xfrm>
            <a:off x="3240200" y="1107950"/>
            <a:ext cx="2861700" cy="4329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Engine Sizing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6" name="Google Shape;206;p35"/>
          <p:cNvSpPr txBox="1"/>
          <p:nvPr/>
        </p:nvSpPr>
        <p:spPr>
          <a:xfrm>
            <a:off x="6282300" y="1107950"/>
            <a:ext cx="2861700" cy="4329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Auxiliary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power unit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7" name="Google Shape;207;p35"/>
          <p:cNvSpPr txBox="1"/>
          <p:nvPr/>
        </p:nvSpPr>
        <p:spPr>
          <a:xfrm>
            <a:off x="190775" y="1636225"/>
            <a:ext cx="2861700" cy="3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Higher consequences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Use of modern, reliable engine (F135)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Redundant electrical and hydraulic systems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8" name="Google Shape;208;p35"/>
          <p:cNvSpPr txBox="1"/>
          <p:nvPr/>
        </p:nvSpPr>
        <p:spPr>
          <a:xfrm>
            <a:off x="3240200" y="1631075"/>
            <a:ext cx="2861700" cy="3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Insufficient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performance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Iterative constraint diagram analysis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Benchmarking against 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existing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fighter engines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6289625" y="1636225"/>
            <a:ext cx="2861700" cy="3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Reduced survivability engine failure scenario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Mitigation: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-"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Prioritize</a:t>
            </a: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APU sizing for enhanced survivability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  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VION Slate">
  <a:themeElements>
    <a:clrScheme name="Slate">
      <a:dk1>
        <a:srgbClr val="B08100"/>
      </a:dk1>
      <a:lt1>
        <a:srgbClr val="F5F5F5"/>
      </a:lt1>
      <a:dk2>
        <a:srgbClr val="797979"/>
      </a:dk2>
      <a:lt2>
        <a:srgbClr val="C3C3C3"/>
      </a:lt2>
      <a:accent1>
        <a:srgbClr val="2323B5"/>
      </a:accent1>
      <a:accent2>
        <a:srgbClr val="78909C"/>
      </a:accent2>
      <a:accent3>
        <a:srgbClr val="0F0F4D"/>
      </a:accent3>
      <a:accent4>
        <a:srgbClr val="2323B5"/>
      </a:accent4>
      <a:accent5>
        <a:srgbClr val="B08100"/>
      </a:accent5>
      <a:accent6>
        <a:srgbClr val="0F0F4D"/>
      </a:accent6>
      <a:hlink>
        <a:srgbClr val="D69D01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