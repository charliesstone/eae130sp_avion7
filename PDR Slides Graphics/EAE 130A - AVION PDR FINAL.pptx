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6"/>
  </p:notesMasterIdLst>
  <p:sldIdLst>
    <p:sldId id="256" r:id="rId2"/>
    <p:sldId id="258" r:id="rId3"/>
    <p:sldId id="257" r:id="rId4"/>
    <p:sldId id="278" r:id="rId5"/>
    <p:sldId id="260" r:id="rId6"/>
    <p:sldId id="261" r:id="rId7"/>
    <p:sldId id="276" r:id="rId8"/>
    <p:sldId id="277" r:id="rId9"/>
    <p:sldId id="262" r:id="rId10"/>
    <p:sldId id="275" r:id="rId11"/>
    <p:sldId id="263" r:id="rId12"/>
    <p:sldId id="264" r:id="rId13"/>
    <p:sldId id="274" r:id="rId14"/>
    <p:sldId id="265" r:id="rId15"/>
    <p:sldId id="273" r:id="rId16"/>
    <p:sldId id="272" r:id="rId17"/>
    <p:sldId id="266" r:id="rId18"/>
    <p:sldId id="271" r:id="rId19"/>
    <p:sldId id="268" r:id="rId20"/>
    <p:sldId id="279" r:id="rId21"/>
    <p:sldId id="282" r:id="rId22"/>
    <p:sldId id="283" r:id="rId23"/>
    <p:sldId id="284" r:id="rId24"/>
    <p:sldId id="270" r:id="rId25"/>
  </p:sldIdLst>
  <p:sldSz cx="9144000" cy="5143500" type="screen16x9"/>
  <p:notesSz cx="6858000" cy="9144000"/>
  <p:embeddedFontLst>
    <p:embeddedFont>
      <p:font typeface="Average" panose="020B0604020202020204" charset="0"/>
      <p:regular r:id="rId27"/>
    </p:embeddedFont>
    <p:embeddedFont>
      <p:font typeface="DM Serif Display" pitchFamily="2" charset="0"/>
      <p:regular r:id="rId28"/>
      <p:italic r:id="rId29"/>
    </p:embeddedFont>
    <p:embeddedFont>
      <p:font typeface="Oswald" panose="00000500000000000000" pitchFamily="2" charset="0"/>
      <p:regular r:id="rId30"/>
      <p:bold r:id="rId3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2D050"/>
    <a:srgbClr val="FFFFFF"/>
    <a:srgbClr val="F2F2F2"/>
    <a:srgbClr val="2323B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476" autoAdjust="0"/>
  </p:normalViewPr>
  <p:slideViewPr>
    <p:cSldViewPr snapToGrid="0">
      <p:cViewPr varScale="1">
        <p:scale>
          <a:sx n="122" d="100"/>
          <a:sy n="122" d="100"/>
        </p:scale>
        <p:origin x="1284" y="9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g3cd1a910dad_2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 name="Google Shape;71;g3cd1a910dad_2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Harvey said: we do not need to include a slide about the RFP; it can just be referenced through the other slides</a:t>
            </a:r>
          </a:p>
          <a:p>
            <a:pPr marL="0" lvl="0" indent="0" algn="l" rtl="0">
              <a:spcBef>
                <a:spcPts val="0"/>
              </a:spcBef>
              <a:spcAft>
                <a:spcPts val="0"/>
              </a:spcAft>
              <a:buNone/>
            </a:pPr>
            <a:endParaRPr lang="en" dirty="0"/>
          </a:p>
          <a:p>
            <a:pPr marL="0" lvl="0" indent="0" algn="l" rtl="0">
              <a:spcBef>
                <a:spcPts val="0"/>
              </a:spcBef>
              <a:spcAft>
                <a:spcPts val="0"/>
              </a:spcAft>
              <a:buNone/>
            </a:pPr>
            <a:r>
              <a:rPr lang="en-US" dirty="0"/>
              <a:t>I</a:t>
            </a:r>
            <a:r>
              <a:rPr lang="en" dirty="0"/>
              <a:t> added costs to this slide, source:</a:t>
            </a:r>
          </a:p>
          <a:p>
            <a:pPr marL="0" lvl="0" indent="0" algn="l" rtl="0">
              <a:spcBef>
                <a:spcPts val="0"/>
              </a:spcBef>
              <a:spcAft>
                <a:spcPts val="0"/>
              </a:spcAft>
              <a:buNone/>
            </a:pPr>
            <a:r>
              <a:rPr lang="en-US" dirty="0"/>
              <a:t>https://www.gao.gov/blog/f-35-will-now-exceed-2-trillion-military-plans-fly-it-less</a:t>
            </a: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3cd1a910dad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3cd1a910dad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Source: previous and https://www.slashgear.com/1689259/f-18-super-hornet-fighter-jet-price/</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2F43FB3B-6B34-A7C2-D60E-B68CFA595454}"/>
            </a:ext>
          </a:extLst>
        </p:cNvPr>
        <p:cNvGrpSpPr/>
        <p:nvPr/>
      </p:nvGrpSpPr>
      <p:grpSpPr>
        <a:xfrm>
          <a:off x="0" y="0"/>
          <a:ext cx="0" cy="0"/>
          <a:chOff x="0" y="0"/>
          <a:chExt cx="0" cy="0"/>
        </a:xfrm>
      </p:grpSpPr>
      <p:sp>
        <p:nvSpPr>
          <p:cNvPr id="63" name="Google Shape;63;g3cd1a910dad_2_0:notes">
            <a:extLst>
              <a:ext uri="{FF2B5EF4-FFF2-40B4-BE49-F238E27FC236}">
                <a16:creationId xmlns:a16="http://schemas.microsoft.com/office/drawing/2014/main" id="{3A04F590-9B79-307B-F605-CF70342BC9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3cd1a910dad_2_0:notes">
            <a:extLst>
              <a:ext uri="{FF2B5EF4-FFF2-40B4-BE49-F238E27FC236}">
                <a16:creationId xmlns:a16="http://schemas.microsoft.com/office/drawing/2014/main" id="{2026A27E-93EB-C131-E993-9F11A4C965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523004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g3cd1a910dad_2_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g3cd1a910dad_2_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g3ce5efde5a0_3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g3ce5efde5a0_3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a:extLst>
            <a:ext uri="{FF2B5EF4-FFF2-40B4-BE49-F238E27FC236}">
              <a16:creationId xmlns:a16="http://schemas.microsoft.com/office/drawing/2014/main" id="{CCA43D35-E8E8-40F8-33B2-90F98C34F06D}"/>
            </a:ext>
          </a:extLst>
        </p:cNvPr>
        <p:cNvGrpSpPr/>
        <p:nvPr/>
      </p:nvGrpSpPr>
      <p:grpSpPr>
        <a:xfrm>
          <a:off x="0" y="0"/>
          <a:ext cx="0" cy="0"/>
          <a:chOff x="0" y="0"/>
          <a:chExt cx="0" cy="0"/>
        </a:xfrm>
      </p:grpSpPr>
      <p:sp>
        <p:nvSpPr>
          <p:cNvPr id="88" name="Google Shape;88;g3ce5efde5a0_3_1:notes">
            <a:extLst>
              <a:ext uri="{FF2B5EF4-FFF2-40B4-BE49-F238E27FC236}">
                <a16:creationId xmlns:a16="http://schemas.microsoft.com/office/drawing/2014/main" id="{C56957CA-FB4F-4D92-5B00-945A2F8162F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g3ce5efde5a0_3_1:notes">
            <a:extLst>
              <a:ext uri="{FF2B5EF4-FFF2-40B4-BE49-F238E27FC236}">
                <a16:creationId xmlns:a16="http://schemas.microsoft.com/office/drawing/2014/main" id="{A9B6AB39-F60B-0BD7-8AC7-DBA68E30C32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261131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a:extLst>
            <a:ext uri="{FF2B5EF4-FFF2-40B4-BE49-F238E27FC236}">
              <a16:creationId xmlns:a16="http://schemas.microsoft.com/office/drawing/2014/main" id="{16D54AA7-9A0E-2AA8-AF99-813C43FB4A01}"/>
            </a:ext>
          </a:extLst>
        </p:cNvPr>
        <p:cNvGrpSpPr/>
        <p:nvPr/>
      </p:nvGrpSpPr>
      <p:grpSpPr>
        <a:xfrm>
          <a:off x="0" y="0"/>
          <a:ext cx="0" cy="0"/>
          <a:chOff x="0" y="0"/>
          <a:chExt cx="0" cy="0"/>
        </a:xfrm>
      </p:grpSpPr>
      <p:sp>
        <p:nvSpPr>
          <p:cNvPr id="88" name="Google Shape;88;g3ce5efde5a0_3_1:notes">
            <a:extLst>
              <a:ext uri="{FF2B5EF4-FFF2-40B4-BE49-F238E27FC236}">
                <a16:creationId xmlns:a16="http://schemas.microsoft.com/office/drawing/2014/main" id="{CED4ACAF-2BCB-74AE-CA72-CAD8E44BB8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g3ce5efde5a0_3_1:notes">
            <a:extLst>
              <a:ext uri="{FF2B5EF4-FFF2-40B4-BE49-F238E27FC236}">
                <a16:creationId xmlns:a16="http://schemas.microsoft.com/office/drawing/2014/main" id="{FC3C5EC1-148F-FD22-F9EA-B749A10A77B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119477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g3ce5efde5a0_3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 name="Google Shape;97;g3ce5efde5a0_3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a:extLst>
            <a:ext uri="{FF2B5EF4-FFF2-40B4-BE49-F238E27FC236}">
              <a16:creationId xmlns:a16="http://schemas.microsoft.com/office/drawing/2014/main" id="{383331CF-31FD-F6D4-DD35-F638E3760502}"/>
            </a:ext>
          </a:extLst>
        </p:cNvPr>
        <p:cNvGrpSpPr/>
        <p:nvPr/>
      </p:nvGrpSpPr>
      <p:grpSpPr>
        <a:xfrm>
          <a:off x="0" y="0"/>
          <a:ext cx="0" cy="0"/>
          <a:chOff x="0" y="0"/>
          <a:chExt cx="0" cy="0"/>
        </a:xfrm>
      </p:grpSpPr>
      <p:sp>
        <p:nvSpPr>
          <p:cNvPr id="96" name="Google Shape;96;g3ce5efde5a0_3_7:notes">
            <a:extLst>
              <a:ext uri="{FF2B5EF4-FFF2-40B4-BE49-F238E27FC236}">
                <a16:creationId xmlns:a16="http://schemas.microsoft.com/office/drawing/2014/main" id="{BBA06FB3-E6A1-971D-F3C4-5760EB4E97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 name="Google Shape;97;g3ce5efde5a0_3_7:notes">
            <a:extLst>
              <a:ext uri="{FF2B5EF4-FFF2-40B4-BE49-F238E27FC236}">
                <a16:creationId xmlns:a16="http://schemas.microsoft.com/office/drawing/2014/main" id="{C176F3DB-9FAD-7066-920A-6378B9BDDED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279394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3ce5efde5a0_3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3ce5efde5a0_3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g3ce5efde5a0_3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ce5efde5a0_3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Talk about: redundancy of </a:t>
            </a:r>
            <a:r>
              <a:rPr lang="en-US" dirty="0" err="1"/>
              <a:t>hstab</a:t>
            </a:r>
            <a:r>
              <a:rPr lang="en-US" dirty="0"/>
              <a:t> control surfaces, control authority</a:t>
            </a:r>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B30C9FC-ED96-93F8-87D1-79461E484F87}"/>
            </a:ext>
          </a:extLst>
        </p:cNvPr>
        <p:cNvGrpSpPr/>
        <p:nvPr/>
      </p:nvGrpSpPr>
      <p:grpSpPr>
        <a:xfrm>
          <a:off x="0" y="0"/>
          <a:ext cx="0" cy="0"/>
          <a:chOff x="0" y="0"/>
          <a:chExt cx="0" cy="0"/>
        </a:xfrm>
      </p:grpSpPr>
      <p:sp>
        <p:nvSpPr>
          <p:cNvPr id="109" name="Google Shape;109;g3ce5efde5a0_3_15:notes">
            <a:extLst>
              <a:ext uri="{FF2B5EF4-FFF2-40B4-BE49-F238E27FC236}">
                <a16:creationId xmlns:a16="http://schemas.microsoft.com/office/drawing/2014/main" id="{B4F4C0BE-D378-9F87-5F8F-A9DF61B7BF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ce5efde5a0_3_15:notes">
            <a:extLst>
              <a:ext uri="{FF2B5EF4-FFF2-40B4-BE49-F238E27FC236}">
                <a16:creationId xmlns:a16="http://schemas.microsoft.com/office/drawing/2014/main" id="{92DEDDA8-BE40-4664-75DB-A0195A440C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869101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ceaaad5a31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 name="Google Shape;117;g3ceaaad5a31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a:extLst>
            <a:ext uri="{FF2B5EF4-FFF2-40B4-BE49-F238E27FC236}">
              <a16:creationId xmlns:a16="http://schemas.microsoft.com/office/drawing/2014/main" id="{103B46A6-C9A9-4A78-3F24-EBB707804936}"/>
            </a:ext>
          </a:extLst>
        </p:cNvPr>
        <p:cNvGrpSpPr/>
        <p:nvPr/>
      </p:nvGrpSpPr>
      <p:grpSpPr>
        <a:xfrm>
          <a:off x="0" y="0"/>
          <a:ext cx="0" cy="0"/>
          <a:chOff x="0" y="0"/>
          <a:chExt cx="0" cy="0"/>
        </a:xfrm>
      </p:grpSpPr>
      <p:sp>
        <p:nvSpPr>
          <p:cNvPr id="116" name="Google Shape;116;g3ceaaad5a31_0_8:notes">
            <a:extLst>
              <a:ext uri="{FF2B5EF4-FFF2-40B4-BE49-F238E27FC236}">
                <a16:creationId xmlns:a16="http://schemas.microsoft.com/office/drawing/2014/main" id="{FCD11BDF-3C3B-432D-FD14-C9D964C86D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 name="Google Shape;117;g3ceaaad5a31_0_8:notes">
            <a:extLst>
              <a:ext uri="{FF2B5EF4-FFF2-40B4-BE49-F238E27FC236}">
                <a16:creationId xmlns:a16="http://schemas.microsoft.com/office/drawing/2014/main" id="{011875EF-E8D7-AB90-8EDF-EFBA756A4A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56839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a:extLst>
            <a:ext uri="{FF2B5EF4-FFF2-40B4-BE49-F238E27FC236}">
              <a16:creationId xmlns:a16="http://schemas.microsoft.com/office/drawing/2014/main" id="{287F05ED-80DD-5F7A-EF99-5F9CC52D1B89}"/>
            </a:ext>
          </a:extLst>
        </p:cNvPr>
        <p:cNvGrpSpPr/>
        <p:nvPr/>
      </p:nvGrpSpPr>
      <p:grpSpPr>
        <a:xfrm>
          <a:off x="0" y="0"/>
          <a:ext cx="0" cy="0"/>
          <a:chOff x="0" y="0"/>
          <a:chExt cx="0" cy="0"/>
        </a:xfrm>
      </p:grpSpPr>
      <p:sp>
        <p:nvSpPr>
          <p:cNvPr id="116" name="Google Shape;116;g3ceaaad5a31_0_8:notes">
            <a:extLst>
              <a:ext uri="{FF2B5EF4-FFF2-40B4-BE49-F238E27FC236}">
                <a16:creationId xmlns:a16="http://schemas.microsoft.com/office/drawing/2014/main" id="{2EAD3450-3A39-84FB-D0A2-744363C1666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 name="Google Shape;117;g3ceaaad5a31_0_8:notes">
            <a:extLst>
              <a:ext uri="{FF2B5EF4-FFF2-40B4-BE49-F238E27FC236}">
                <a16:creationId xmlns:a16="http://schemas.microsoft.com/office/drawing/2014/main" id="{BCEAB8E6-8BBF-35EE-2B29-FB52E46B232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67613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3cd1a910dad_2_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3cd1a910dad_2_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 order to ensure our aircraft can perform the required missions, a preliminary sizing was completed. First, a non-dimensional analysis was conducted in an effort to find an acceptable thrust/weight and wing loading. Each curve here represents a particular mission constraint, and each chevron denotes historical 5</a:t>
            </a:r>
            <a:r>
              <a:rPr lang="en-US" baseline="30000" dirty="0"/>
              <a:t>th</a:t>
            </a:r>
            <a:r>
              <a:rPr lang="en-US" dirty="0"/>
              <a:t> and 4</a:t>
            </a:r>
            <a:r>
              <a:rPr lang="en-US" baseline="30000" dirty="0"/>
              <a:t>th</a:t>
            </a:r>
            <a:r>
              <a:rPr lang="en-US" dirty="0"/>
              <a:t> generation fighter aircraft. The diamond shows the chosen design point. A thrust loading of 0.93 and wing loading of 90 was chosen, slightly lower than the F-18 super hornet, in an aim to reduce costs while still providing a mission capable aircraft. </a:t>
            </a: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a:extLst>
            <a:ext uri="{FF2B5EF4-FFF2-40B4-BE49-F238E27FC236}">
              <a16:creationId xmlns:a16="http://schemas.microsoft.com/office/drawing/2014/main" id="{E043AD2C-DEE7-34AE-8C3E-72D1599D18DF}"/>
            </a:ext>
          </a:extLst>
        </p:cNvPr>
        <p:cNvGrpSpPr/>
        <p:nvPr/>
      </p:nvGrpSpPr>
      <p:grpSpPr>
        <a:xfrm>
          <a:off x="0" y="0"/>
          <a:ext cx="0" cy="0"/>
          <a:chOff x="0" y="0"/>
          <a:chExt cx="0" cy="0"/>
        </a:xfrm>
      </p:grpSpPr>
      <p:sp>
        <p:nvSpPr>
          <p:cNvPr id="120" name="Google Shape;120;g3cd1a910dad_2_85:notes">
            <a:extLst>
              <a:ext uri="{FF2B5EF4-FFF2-40B4-BE49-F238E27FC236}">
                <a16:creationId xmlns:a16="http://schemas.microsoft.com/office/drawing/2014/main" id="{F5F1E867-4F32-CE55-E8FD-9C61B10040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3cd1a910dad_2_85:notes">
            <a:extLst>
              <a:ext uri="{FF2B5EF4-FFF2-40B4-BE49-F238E27FC236}">
                <a16:creationId xmlns:a16="http://schemas.microsoft.com/office/drawing/2014/main" id="{E148BD10-B930-7D8C-EEC5-7023203F969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Subsequently, a </a:t>
            </a:r>
            <a:r>
              <a:rPr lang="en-US" dirty="0" err="1"/>
              <a:t>dimensionalized</a:t>
            </a:r>
            <a:r>
              <a:rPr lang="en-US" dirty="0"/>
              <a:t> sizing was conducted to find a suitable wing area and thrust rating for the design. The same mission constraints were iterated upon in order to find thrust required. Due to our driving constraints, we selected a thrust value of 33500 </a:t>
            </a:r>
            <a:r>
              <a:rPr lang="en-US" dirty="0" err="1"/>
              <a:t>lb</a:t>
            </a:r>
            <a:r>
              <a:rPr lang="en-US" dirty="0"/>
              <a:t> and a wing area of 400 sq ft. The wing area is decreased from previous designs such as the F-35 and F-18, but is still within the same class, to ensure similar handling characteristics and ease of training. The thrust value is lower than both of these aircraft, however, this allows us to use a non-specialized single turbofan engine, reducing costs further. Given our sizing analysis, we are confident an aircraft with these parameters can complete the mission. </a:t>
            </a:r>
            <a:endParaRPr dirty="0"/>
          </a:p>
        </p:txBody>
      </p:sp>
    </p:spTree>
    <p:extLst>
      <p:ext uri="{BB962C8B-B14F-4D97-AF65-F5344CB8AC3E}">
        <p14:creationId xmlns:p14="http://schemas.microsoft.com/office/powerpoint/2010/main" val="34125315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ce4ee1fdbe_4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g3ce4ee1fdbe_4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 order to have a good bearing on aerodynamic efficiency of the aircraft, a drag polar was established. With a fixed aspect ratio of 3.5, efficiency factor and drag were varied for each condition: cruise, takeoff, and landing, and with or without gear down. This reveals satisfactory performance given the provided mission. </a:t>
            </a:r>
            <a:endParaRPr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3ceaaad5a31_2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g3ceaaad5a31_2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647318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ceaaad5a31_2_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 name="Google Shape;183;g3ceaaad5a31_2_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338312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g3ceaaad5a31_2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3" name="Google Shape;193;g3ceaaad5a31_2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128157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ceaaad5a31_2_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1" name="Google Shape;201;g3ceaaad5a31_2_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1996900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cd1a910dad_2_1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3cd1a910dad_2_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grpSp>
        <p:nvGrpSpPr>
          <p:cNvPr id="11" name="Google Shape;11;p2"/>
          <p:cNvGrpSpPr/>
          <p:nvPr/>
        </p:nvGrpSpPr>
        <p:grpSpPr>
          <a:xfrm>
            <a:off x="4350279" y="2855377"/>
            <a:ext cx="443589" cy="105632"/>
            <a:chOff x="4137525" y="2915950"/>
            <a:chExt cx="869100" cy="207000"/>
          </a:xfrm>
        </p:grpSpPr>
        <p:sp>
          <p:nvSpPr>
            <p:cNvPr id="12" name="Google Shape;12;p2"/>
            <p:cNvSpPr/>
            <p:nvPr/>
          </p:nvSpPr>
          <p:spPr>
            <a:xfrm>
              <a:off x="4468575" y="2915950"/>
              <a:ext cx="207000" cy="20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4799625" y="2915950"/>
              <a:ext cx="207000" cy="20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4137525" y="2915950"/>
              <a:ext cx="207000" cy="20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 name="Google Shape;15;p2"/>
          <p:cNvSpPr txBox="1">
            <a:spLocks noGrp="1"/>
          </p:cNvSpPr>
          <p:nvPr>
            <p:ph type="ctrTitle"/>
          </p:nvPr>
        </p:nvSpPr>
        <p:spPr>
          <a:xfrm>
            <a:off x="671258" y="990800"/>
            <a:ext cx="7801500" cy="1730100"/>
          </a:xfrm>
          <a:prstGeom prst="rect">
            <a:avLst/>
          </a:prstGeom>
        </p:spPr>
        <p:txBody>
          <a:bodyPr spcFirstLastPara="1" wrap="square" lIns="91425" tIns="91425" rIns="91425" bIns="91425" anchor="b" anchorCtr="0">
            <a:norm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16" name="Google Shape;16;p2"/>
          <p:cNvSpPr txBox="1">
            <a:spLocks noGrp="1"/>
          </p:cNvSpPr>
          <p:nvPr>
            <p:ph type="subTitle" idx="1"/>
          </p:nvPr>
        </p:nvSpPr>
        <p:spPr>
          <a:xfrm>
            <a:off x="671250" y="3174876"/>
            <a:ext cx="78015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17" name="Google Shape;17;p2"/>
          <p:cNvSpPr txBox="1">
            <a:spLocks noGrp="1"/>
          </p:cNvSpPr>
          <p:nvPr>
            <p:ph type="sldNum" idx="12"/>
          </p:nvPr>
        </p:nvSpPr>
        <p:spPr>
          <a:xfrm>
            <a:off x="8490250" y="468100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8"/>
        <p:cNvGrpSpPr/>
        <p:nvPr/>
      </p:nvGrpSpPr>
      <p:grpSpPr>
        <a:xfrm>
          <a:off x="0" y="0"/>
          <a:ext cx="0" cy="0"/>
          <a:chOff x="0" y="0"/>
          <a:chExt cx="0" cy="0"/>
        </a:xfrm>
      </p:grpSpPr>
      <p:sp>
        <p:nvSpPr>
          <p:cNvPr id="19" name="Google Shape;19;p3"/>
          <p:cNvSpPr txBox="1">
            <a:spLocks noGrp="1"/>
          </p:cNvSpPr>
          <p:nvPr>
            <p:ph type="title"/>
          </p:nvPr>
        </p:nvSpPr>
        <p:spPr>
          <a:xfrm>
            <a:off x="671250" y="2141250"/>
            <a:ext cx="7852200" cy="8610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0" name="Google Shape;20;p3"/>
          <p:cNvSpPr txBox="1">
            <a:spLocks noGrp="1"/>
          </p:cNvSpPr>
          <p:nvPr>
            <p:ph type="sldNum" idx="12"/>
          </p:nvPr>
        </p:nvSpPr>
        <p:spPr>
          <a:xfrm>
            <a:off x="8490250" y="468100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3" name="Google Shape;23;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4" name="Google Shape;24;p4"/>
          <p:cNvSpPr txBox="1">
            <a:spLocks noGrp="1"/>
          </p:cNvSpPr>
          <p:nvPr>
            <p:ph type="sldNum" idx="12"/>
          </p:nvPr>
        </p:nvSpPr>
        <p:spPr>
          <a:xfrm>
            <a:off x="8490250" y="468100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0"/>
        <p:cNvGrpSpPr/>
        <p:nvPr/>
      </p:nvGrpSpPr>
      <p:grpSpPr>
        <a:xfrm>
          <a:off x="0" y="0"/>
          <a:ext cx="0" cy="0"/>
          <a:chOff x="0" y="0"/>
          <a:chExt cx="0" cy="0"/>
        </a:xfrm>
      </p:grpSpPr>
      <p:sp>
        <p:nvSpPr>
          <p:cNvPr id="31" name="Google Shape;31;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2" name="Google Shape;32;p6"/>
          <p:cNvSpPr txBox="1">
            <a:spLocks noGrp="1"/>
          </p:cNvSpPr>
          <p:nvPr>
            <p:ph type="sldNum" idx="12"/>
          </p:nvPr>
        </p:nvSpPr>
        <p:spPr>
          <a:xfrm>
            <a:off x="8490250" y="468100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5" name="Google Shape;35;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6" name="Google Shape;36;p7"/>
          <p:cNvSpPr txBox="1">
            <a:spLocks noGrp="1"/>
          </p:cNvSpPr>
          <p:nvPr>
            <p:ph type="sldNum" idx="12"/>
          </p:nvPr>
        </p:nvSpPr>
        <p:spPr>
          <a:xfrm>
            <a:off x="8490250" y="468100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lt2"/>
        </a:solidFill>
        <a:effectLst/>
      </p:bgPr>
    </p:bg>
    <p:spTree>
      <p:nvGrpSpPr>
        <p:cNvPr id="1" name="Shape 37"/>
        <p:cNvGrpSpPr/>
        <p:nvPr/>
      </p:nvGrpSpPr>
      <p:grpSpPr>
        <a:xfrm>
          <a:off x="0" y="0"/>
          <a:ext cx="0" cy="0"/>
          <a:chOff x="0" y="0"/>
          <a:chExt cx="0" cy="0"/>
        </a:xfrm>
      </p:grpSpPr>
      <p:sp>
        <p:nvSpPr>
          <p:cNvPr id="38" name="Google Shape;38;p8"/>
          <p:cNvSpPr txBox="1">
            <a:spLocks noGrp="1"/>
          </p:cNvSpPr>
          <p:nvPr>
            <p:ph type="title"/>
          </p:nvPr>
        </p:nvSpPr>
        <p:spPr>
          <a:xfrm>
            <a:off x="490250" y="526350"/>
            <a:ext cx="62271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a:endParaRPr/>
          </a:p>
        </p:txBody>
      </p:sp>
      <p:sp>
        <p:nvSpPr>
          <p:cNvPr id="39" name="Google Shape;39;p8"/>
          <p:cNvSpPr txBox="1">
            <a:spLocks noGrp="1"/>
          </p:cNvSpPr>
          <p:nvPr>
            <p:ph type="sldNum" idx="12"/>
          </p:nvPr>
        </p:nvSpPr>
        <p:spPr>
          <a:xfrm>
            <a:off x="8490250" y="4681009"/>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0"/>
        <p:cNvGrpSpPr/>
        <p:nvPr/>
      </p:nvGrpSpPr>
      <p:grpSpPr>
        <a:xfrm>
          <a:off x="0" y="0"/>
          <a:ext cx="0" cy="0"/>
          <a:chOff x="0" y="0"/>
          <a:chExt cx="0" cy="0"/>
        </a:xfrm>
      </p:grpSpPr>
      <p:sp>
        <p:nvSpPr>
          <p:cNvPr id="41" name="Google Shape;41;p9"/>
          <p:cNvSpPr/>
          <p:nvPr/>
        </p:nvSpPr>
        <p:spPr>
          <a:xfrm>
            <a:off x="457200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2" name="Google Shape;42;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3" name="Google Shape;43;p9"/>
          <p:cNvSpPr txBox="1">
            <a:spLocks noGrp="1"/>
          </p:cNvSpPr>
          <p:nvPr>
            <p:ph type="title"/>
          </p:nvPr>
        </p:nvSpPr>
        <p:spPr>
          <a:xfrm>
            <a:off x="265500" y="1081400"/>
            <a:ext cx="4045200" cy="1710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4" name="Google Shape;44;p9"/>
          <p:cNvSpPr txBox="1">
            <a:spLocks noGrp="1"/>
          </p:cNvSpPr>
          <p:nvPr>
            <p:ph type="subTitle" idx="1"/>
          </p:nvPr>
        </p:nvSpPr>
        <p:spPr>
          <a:xfrm>
            <a:off x="265500" y="2845201"/>
            <a:ext cx="4045200" cy="13455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SzPts val="2100"/>
              <a:buNone/>
              <a:defRPr sz="2100">
                <a:solidFill>
                  <a:schemeClr val="dk1"/>
                </a:solidFill>
              </a:defRPr>
            </a:lvl1pPr>
            <a:lvl2pPr lvl="1" algn="ctr">
              <a:lnSpc>
                <a:spcPct val="100000"/>
              </a:lnSpc>
              <a:spcBef>
                <a:spcPts val="0"/>
              </a:spcBef>
              <a:spcAft>
                <a:spcPts val="0"/>
              </a:spcAft>
              <a:buClr>
                <a:schemeClr val="dk1"/>
              </a:buClr>
              <a:buSzPts val="2100"/>
              <a:buNone/>
              <a:defRPr sz="2100">
                <a:solidFill>
                  <a:schemeClr val="dk1"/>
                </a:solidFill>
              </a:defRPr>
            </a:lvl2pPr>
            <a:lvl3pPr lvl="2" algn="ctr">
              <a:lnSpc>
                <a:spcPct val="100000"/>
              </a:lnSpc>
              <a:spcBef>
                <a:spcPts val="0"/>
              </a:spcBef>
              <a:spcAft>
                <a:spcPts val="0"/>
              </a:spcAft>
              <a:buClr>
                <a:schemeClr val="dk1"/>
              </a:buClr>
              <a:buSzPts val="2100"/>
              <a:buNone/>
              <a:defRPr sz="2100">
                <a:solidFill>
                  <a:schemeClr val="dk1"/>
                </a:solidFill>
              </a:defRPr>
            </a:lvl3pPr>
            <a:lvl4pPr lvl="3" algn="ctr">
              <a:lnSpc>
                <a:spcPct val="100000"/>
              </a:lnSpc>
              <a:spcBef>
                <a:spcPts val="0"/>
              </a:spcBef>
              <a:spcAft>
                <a:spcPts val="0"/>
              </a:spcAft>
              <a:buClr>
                <a:schemeClr val="dk1"/>
              </a:buClr>
              <a:buSzPts val="2100"/>
              <a:buNone/>
              <a:defRPr sz="2100">
                <a:solidFill>
                  <a:schemeClr val="dk1"/>
                </a:solidFill>
              </a:defRPr>
            </a:lvl4pPr>
            <a:lvl5pPr lvl="4" algn="ctr">
              <a:lnSpc>
                <a:spcPct val="100000"/>
              </a:lnSpc>
              <a:spcBef>
                <a:spcPts val="0"/>
              </a:spcBef>
              <a:spcAft>
                <a:spcPts val="0"/>
              </a:spcAft>
              <a:buClr>
                <a:schemeClr val="dk1"/>
              </a:buClr>
              <a:buSzPts val="2100"/>
              <a:buNone/>
              <a:defRPr sz="2100">
                <a:solidFill>
                  <a:schemeClr val="dk1"/>
                </a:solidFill>
              </a:defRPr>
            </a:lvl5pPr>
            <a:lvl6pPr lvl="5" algn="ctr">
              <a:lnSpc>
                <a:spcPct val="100000"/>
              </a:lnSpc>
              <a:spcBef>
                <a:spcPts val="0"/>
              </a:spcBef>
              <a:spcAft>
                <a:spcPts val="0"/>
              </a:spcAft>
              <a:buClr>
                <a:schemeClr val="dk1"/>
              </a:buClr>
              <a:buSzPts val="2100"/>
              <a:buNone/>
              <a:defRPr sz="2100">
                <a:solidFill>
                  <a:schemeClr val="dk1"/>
                </a:solidFill>
              </a:defRPr>
            </a:lvl6pPr>
            <a:lvl7pPr lvl="6" algn="ctr">
              <a:lnSpc>
                <a:spcPct val="100000"/>
              </a:lnSpc>
              <a:spcBef>
                <a:spcPts val="0"/>
              </a:spcBef>
              <a:spcAft>
                <a:spcPts val="0"/>
              </a:spcAft>
              <a:buClr>
                <a:schemeClr val="dk1"/>
              </a:buClr>
              <a:buSzPts val="2100"/>
              <a:buNone/>
              <a:defRPr sz="2100">
                <a:solidFill>
                  <a:schemeClr val="dk1"/>
                </a:solidFill>
              </a:defRPr>
            </a:lvl7pPr>
            <a:lvl8pPr lvl="7" algn="ctr">
              <a:lnSpc>
                <a:spcPct val="100000"/>
              </a:lnSpc>
              <a:spcBef>
                <a:spcPts val="0"/>
              </a:spcBef>
              <a:spcAft>
                <a:spcPts val="0"/>
              </a:spcAft>
              <a:buClr>
                <a:schemeClr val="dk1"/>
              </a:buClr>
              <a:buSzPts val="2100"/>
              <a:buNone/>
              <a:defRPr sz="2100">
                <a:solidFill>
                  <a:schemeClr val="dk1"/>
                </a:solidFill>
              </a:defRPr>
            </a:lvl8pPr>
            <a:lvl9pPr lvl="8" algn="ctr">
              <a:lnSpc>
                <a:spcPct val="100000"/>
              </a:lnSpc>
              <a:spcBef>
                <a:spcPts val="0"/>
              </a:spcBef>
              <a:spcAft>
                <a:spcPts val="0"/>
              </a:spcAft>
              <a:buClr>
                <a:schemeClr val="dk1"/>
              </a:buClr>
              <a:buSzPts val="2100"/>
              <a:buNone/>
              <a:defRPr sz="2100">
                <a:solidFill>
                  <a:schemeClr val="dk1"/>
                </a:solidFill>
              </a:defRPr>
            </a:lvl9pPr>
          </a:lstStyle>
          <a:p>
            <a:endParaRPr/>
          </a:p>
        </p:txBody>
      </p:sp>
      <p:sp>
        <p:nvSpPr>
          <p:cNvPr id="45" name="Google Shape;45;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46" name="Google Shape;46;p9"/>
          <p:cNvSpPr txBox="1">
            <a:spLocks noGrp="1"/>
          </p:cNvSpPr>
          <p:nvPr>
            <p:ph type="sldNum" idx="12"/>
          </p:nvPr>
        </p:nvSpPr>
        <p:spPr>
          <a:xfrm>
            <a:off x="8490250" y="4681009"/>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7"/>
        <p:cNvGrpSpPr/>
        <p:nvPr/>
      </p:nvGrpSpPr>
      <p:grpSpPr>
        <a:xfrm>
          <a:off x="0" y="0"/>
          <a:ext cx="0" cy="0"/>
          <a:chOff x="0" y="0"/>
          <a:chExt cx="0" cy="0"/>
        </a:xfrm>
      </p:grpSpPr>
      <p:sp>
        <p:nvSpPr>
          <p:cNvPr id="48" name="Google Shape;48;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Clr>
                <a:schemeClr val="dk1"/>
              </a:buClr>
              <a:buSzPts val="2100"/>
              <a:buFont typeface="Oswald"/>
              <a:buNone/>
              <a:defRPr sz="2100">
                <a:solidFill>
                  <a:schemeClr val="dk1"/>
                </a:solidFill>
                <a:latin typeface="Oswald"/>
                <a:ea typeface="Oswald"/>
                <a:cs typeface="Oswald"/>
                <a:sym typeface="Oswald"/>
              </a:defRPr>
            </a:lvl1pPr>
          </a:lstStyle>
          <a:p>
            <a:endParaRPr/>
          </a:p>
        </p:txBody>
      </p:sp>
      <p:sp>
        <p:nvSpPr>
          <p:cNvPr id="49" name="Google Shape;49;p10"/>
          <p:cNvSpPr txBox="1">
            <a:spLocks noGrp="1"/>
          </p:cNvSpPr>
          <p:nvPr>
            <p:ph type="sldNum" idx="12"/>
          </p:nvPr>
        </p:nvSpPr>
        <p:spPr>
          <a:xfrm>
            <a:off x="8490250" y="468100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0"/>
        <p:cNvGrpSpPr/>
        <p:nvPr/>
      </p:nvGrpSpPr>
      <p:grpSpPr>
        <a:xfrm>
          <a:off x="0" y="0"/>
          <a:ext cx="0" cy="0"/>
          <a:chOff x="0" y="0"/>
          <a:chExt cx="0" cy="0"/>
        </a:xfrm>
      </p:grpSpPr>
      <p:sp>
        <p:nvSpPr>
          <p:cNvPr id="51" name="Google Shape;51;p11"/>
          <p:cNvSpPr txBox="1">
            <a:spLocks noGrp="1"/>
          </p:cNvSpPr>
          <p:nvPr>
            <p:ph type="title" hasCustomPrompt="1"/>
          </p:nvPr>
        </p:nvSpPr>
        <p:spPr>
          <a:xfrm>
            <a:off x="311700" y="1255275"/>
            <a:ext cx="8520600" cy="18906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2" name="Google Shape;52;p11"/>
          <p:cNvSpPr txBox="1">
            <a:spLocks noGrp="1"/>
          </p:cNvSpPr>
          <p:nvPr>
            <p:ph type="body" idx="1"/>
          </p:nvPr>
        </p:nvSpPr>
        <p:spPr>
          <a:xfrm>
            <a:off x="311700" y="32284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3" name="Google Shape;53;p11"/>
          <p:cNvSpPr txBox="1">
            <a:spLocks noGrp="1"/>
          </p:cNvSpPr>
          <p:nvPr>
            <p:ph type="sldNum" idx="12"/>
          </p:nvPr>
        </p:nvSpPr>
        <p:spPr>
          <a:xfrm>
            <a:off x="8490250" y="468100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12"/>
          <p:cNvSpPr txBox="1">
            <a:spLocks noGrp="1"/>
          </p:cNvSpPr>
          <p:nvPr>
            <p:ph type="sldNum" idx="12"/>
          </p:nvPr>
        </p:nvSpPr>
        <p:spPr>
          <a:xfrm>
            <a:off x="8490250" y="468100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late">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1pPr>
            <a:lvl2pPr lvl="1">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2pPr>
            <a:lvl3pPr lvl="2">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3pPr>
            <a:lvl4pPr lvl="3">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4pPr>
            <a:lvl5pPr lvl="4">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5pPr>
            <a:lvl6pPr lvl="5">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6pPr>
            <a:lvl7pPr lvl="6">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7pPr>
            <a:lvl8pPr lvl="7">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8pPr>
            <a:lvl9pPr lvl="8">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accent3"/>
              </a:buClr>
              <a:buSzPts val="1800"/>
              <a:buFont typeface="Average"/>
              <a:buChar char="●"/>
              <a:defRPr sz="1800">
                <a:solidFill>
                  <a:schemeClr val="accent3"/>
                </a:solidFill>
                <a:latin typeface="Average"/>
                <a:ea typeface="Average"/>
                <a:cs typeface="Average"/>
                <a:sym typeface="Average"/>
              </a:defRPr>
            </a:lvl1pPr>
            <a:lvl2pPr marL="914400" lvl="1" indent="-3175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2pPr>
            <a:lvl3pPr marL="1371600" lvl="2" indent="-3175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3pPr>
            <a:lvl4pPr marL="1828800" lvl="3" indent="-3175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4pPr>
            <a:lvl5pPr marL="2286000" lvl="4" indent="-3175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5pPr>
            <a:lvl6pPr marL="2743200" lvl="5" indent="-3175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6pPr>
            <a:lvl7pPr marL="3200400" lvl="6" indent="-3175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7pPr>
            <a:lvl8pPr marL="3657600" lvl="7" indent="-3175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8pPr>
            <a:lvl9pPr marL="4114800" lvl="8" indent="-3175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9pPr>
          </a:lstStyle>
          <a:p>
            <a:endParaRPr/>
          </a:p>
        </p:txBody>
      </p:sp>
      <p:sp>
        <p:nvSpPr>
          <p:cNvPr id="8" name="Google Shape;8;p1"/>
          <p:cNvSpPr txBox="1">
            <a:spLocks noGrp="1"/>
          </p:cNvSpPr>
          <p:nvPr>
            <p:ph type="sldNum" idx="12"/>
          </p:nvPr>
        </p:nvSpPr>
        <p:spPr>
          <a:xfrm>
            <a:off x="8490250" y="4681009"/>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accent3"/>
                </a:solidFill>
                <a:latin typeface="Average"/>
                <a:ea typeface="Average"/>
                <a:cs typeface="Average"/>
                <a:sym typeface="Average"/>
              </a:defRPr>
            </a:lvl1pPr>
            <a:lvl2pPr lvl="1" algn="r">
              <a:buNone/>
              <a:defRPr sz="1000">
                <a:solidFill>
                  <a:schemeClr val="accent3"/>
                </a:solidFill>
                <a:latin typeface="Average"/>
                <a:ea typeface="Average"/>
                <a:cs typeface="Average"/>
                <a:sym typeface="Average"/>
              </a:defRPr>
            </a:lvl2pPr>
            <a:lvl3pPr lvl="2" algn="r">
              <a:buNone/>
              <a:defRPr sz="1000">
                <a:solidFill>
                  <a:schemeClr val="accent3"/>
                </a:solidFill>
                <a:latin typeface="Average"/>
                <a:ea typeface="Average"/>
                <a:cs typeface="Average"/>
                <a:sym typeface="Average"/>
              </a:defRPr>
            </a:lvl3pPr>
            <a:lvl4pPr lvl="3" algn="r">
              <a:buNone/>
              <a:defRPr sz="1000">
                <a:solidFill>
                  <a:schemeClr val="accent3"/>
                </a:solidFill>
                <a:latin typeface="Average"/>
                <a:ea typeface="Average"/>
                <a:cs typeface="Average"/>
                <a:sym typeface="Average"/>
              </a:defRPr>
            </a:lvl4pPr>
            <a:lvl5pPr lvl="4" algn="r">
              <a:buNone/>
              <a:defRPr sz="1000">
                <a:solidFill>
                  <a:schemeClr val="accent3"/>
                </a:solidFill>
                <a:latin typeface="Average"/>
                <a:ea typeface="Average"/>
                <a:cs typeface="Average"/>
                <a:sym typeface="Average"/>
              </a:defRPr>
            </a:lvl5pPr>
            <a:lvl6pPr lvl="5" algn="r">
              <a:buNone/>
              <a:defRPr sz="1000">
                <a:solidFill>
                  <a:schemeClr val="accent3"/>
                </a:solidFill>
                <a:latin typeface="Average"/>
                <a:ea typeface="Average"/>
                <a:cs typeface="Average"/>
                <a:sym typeface="Average"/>
              </a:defRPr>
            </a:lvl6pPr>
            <a:lvl7pPr lvl="6" algn="r">
              <a:buNone/>
              <a:defRPr sz="1000">
                <a:solidFill>
                  <a:schemeClr val="accent3"/>
                </a:solidFill>
                <a:latin typeface="Average"/>
                <a:ea typeface="Average"/>
                <a:cs typeface="Average"/>
                <a:sym typeface="Average"/>
              </a:defRPr>
            </a:lvl7pPr>
            <a:lvl8pPr lvl="7" algn="r">
              <a:buNone/>
              <a:defRPr sz="1000">
                <a:solidFill>
                  <a:schemeClr val="accent3"/>
                </a:solidFill>
                <a:latin typeface="Average"/>
                <a:ea typeface="Average"/>
                <a:cs typeface="Average"/>
                <a:sym typeface="Average"/>
              </a:defRPr>
            </a:lvl8pPr>
            <a:lvl9pPr lvl="8" algn="r">
              <a:buNone/>
              <a:defRPr sz="1000">
                <a:solidFill>
                  <a:schemeClr val="accent3"/>
                </a:solidFill>
                <a:latin typeface="Average"/>
                <a:ea typeface="Average"/>
                <a:cs typeface="Average"/>
                <a:sym typeface="Average"/>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2">
            <a:alphaModFix/>
          </a:blip>
          <a:srcRect t="8352" b="9849"/>
          <a:stretch/>
        </p:blipFill>
        <p:spPr>
          <a:xfrm>
            <a:off x="8068100" y="4085725"/>
            <a:ext cx="983400" cy="953400"/>
          </a:xfrm>
          <a:prstGeom prst="ellipse">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5.jpg"/></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6.jpg"/></Relationships>
</file>

<file path=ppt/slides/_rels/slide9.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8.jpg"/></Relationships>
</file>

<file path=ppt/slides/_rels/slide10.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11.jpg"/></Relationships>
</file>

<file path=ppt/slides/_rels/slide14.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5.xml"/><Relationship Id="rId4" Type="http://schemas.openxmlformats.org/officeDocument/2006/relationships/image" Target="../media/image16.svg"/></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5.xml"/><Relationship Id="rId4" Type="http://schemas.openxmlformats.org/officeDocument/2006/relationships/image" Target="../media/image18.svg"/></Relationships>
</file>

<file path=ppt/slides/_rels/slide19.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microsoft.com/office/2007/relationships/hdphoto" Target="../media/hdphoto2.wdp"/></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9"/>
        <p:cNvGrpSpPr/>
        <p:nvPr/>
      </p:nvGrpSpPr>
      <p:grpSpPr>
        <a:xfrm>
          <a:off x="0" y="0"/>
          <a:ext cx="0" cy="0"/>
          <a:chOff x="0" y="0"/>
          <a:chExt cx="0" cy="0"/>
        </a:xfrm>
      </p:grpSpPr>
      <p:sp>
        <p:nvSpPr>
          <p:cNvPr id="60" name="Google Shape;60;p13"/>
          <p:cNvSpPr txBox="1">
            <a:spLocks noGrp="1"/>
          </p:cNvSpPr>
          <p:nvPr>
            <p:ph type="subTitle" idx="1"/>
          </p:nvPr>
        </p:nvSpPr>
        <p:spPr>
          <a:xfrm>
            <a:off x="1589461" y="4549100"/>
            <a:ext cx="5965077" cy="594400"/>
          </a:xfrm>
          <a:prstGeom prst="rect">
            <a:avLst/>
          </a:prstGeom>
        </p:spPr>
        <p:txBody>
          <a:bodyPr spcFirstLastPara="1" wrap="square" lIns="91425" tIns="91425" rIns="91425" bIns="91425" anchor="t" anchorCtr="0">
            <a:normAutofit lnSpcReduction="10000"/>
          </a:bodyPr>
          <a:lstStyle/>
          <a:p>
            <a:pPr marL="0" lvl="0" indent="0" algn="ctr" rtl="0">
              <a:spcBef>
                <a:spcPts val="0"/>
              </a:spcBef>
              <a:spcAft>
                <a:spcPts val="0"/>
              </a:spcAft>
              <a:buNone/>
            </a:pPr>
            <a:r>
              <a:rPr lang="en" sz="1450" dirty="0">
                <a:solidFill>
                  <a:schemeClr val="accent6"/>
                </a:solidFill>
                <a:latin typeface="DM Serif Display"/>
                <a:ea typeface="DM Serif Display"/>
                <a:cs typeface="DM Serif Display"/>
                <a:sym typeface="DM Serif Display"/>
              </a:rPr>
              <a:t>Charlie Stone  ∙  Valeria Cecena  ∙  Quinn Kennerly</a:t>
            </a:r>
            <a:endParaRPr sz="1450" dirty="0">
              <a:solidFill>
                <a:schemeClr val="accent6"/>
              </a:solidFill>
              <a:latin typeface="DM Serif Display"/>
              <a:ea typeface="DM Serif Display"/>
              <a:cs typeface="DM Serif Display"/>
              <a:sym typeface="DM Serif Display"/>
            </a:endParaRPr>
          </a:p>
          <a:p>
            <a:pPr marL="0" lvl="0" indent="0" algn="ctr" rtl="0">
              <a:spcBef>
                <a:spcPts val="0"/>
              </a:spcBef>
              <a:spcAft>
                <a:spcPts val="0"/>
              </a:spcAft>
              <a:buNone/>
            </a:pPr>
            <a:r>
              <a:rPr lang="en" sz="1450" dirty="0">
                <a:solidFill>
                  <a:schemeClr val="accent6"/>
                </a:solidFill>
                <a:latin typeface="DM Serif Display"/>
                <a:ea typeface="DM Serif Display"/>
                <a:cs typeface="DM Serif Display"/>
                <a:sym typeface="DM Serif Display"/>
              </a:rPr>
              <a:t>Lena Pattamadilok  ∙  Jose Hernandez Negrete  ∙  Mostafa Hashem</a:t>
            </a:r>
            <a:endParaRPr sz="1450" dirty="0">
              <a:solidFill>
                <a:schemeClr val="accent6"/>
              </a:solidFill>
              <a:latin typeface="DM Serif Display"/>
              <a:ea typeface="DM Serif Display"/>
              <a:cs typeface="DM Serif Display"/>
              <a:sym typeface="DM Serif Display"/>
            </a:endParaRPr>
          </a:p>
        </p:txBody>
      </p:sp>
      <p:sp>
        <p:nvSpPr>
          <p:cNvPr id="61" name="Google Shape;61;p13"/>
          <p:cNvSpPr txBox="1">
            <a:spLocks noGrp="1"/>
          </p:cNvSpPr>
          <p:nvPr>
            <p:ph type="ctrTitle"/>
          </p:nvPr>
        </p:nvSpPr>
        <p:spPr>
          <a:xfrm>
            <a:off x="671249" y="198200"/>
            <a:ext cx="7801500" cy="17301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sz="5400" dirty="0">
                <a:solidFill>
                  <a:schemeClr val="accent6"/>
                </a:solidFill>
              </a:rPr>
              <a:t>AVION YF-52 Coyote</a:t>
            </a:r>
            <a:endParaRPr sz="5400" dirty="0">
              <a:solidFill>
                <a:schemeClr val="accent6"/>
              </a:solidFill>
            </a:endParaRPr>
          </a:p>
          <a:p>
            <a:pPr marL="0" lvl="0" indent="0" algn="ctr" rtl="0">
              <a:spcBef>
                <a:spcPts val="0"/>
              </a:spcBef>
              <a:spcAft>
                <a:spcPts val="0"/>
              </a:spcAft>
              <a:buNone/>
            </a:pPr>
            <a:r>
              <a:rPr lang="en" sz="2400" dirty="0">
                <a:solidFill>
                  <a:schemeClr val="accent6"/>
                </a:solidFill>
              </a:rPr>
              <a:t>Preliminary Design Review</a:t>
            </a:r>
            <a:endParaRPr sz="2400" dirty="0">
              <a:solidFill>
                <a:schemeClr val="accent6"/>
              </a:solidFill>
            </a:endParaRPr>
          </a:p>
        </p:txBody>
      </p:sp>
      <p:pic>
        <p:nvPicPr>
          <p:cNvPr id="3" name="Picture 2">
            <a:extLst>
              <a:ext uri="{FF2B5EF4-FFF2-40B4-BE49-F238E27FC236}">
                <a16:creationId xmlns:a16="http://schemas.microsoft.com/office/drawing/2014/main" id="{DDDF2181-13C6-2BB9-0D13-1104B0A2587E}"/>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8065" b="94355" l="5101" r="96779">
                        <a14:foregroundMark x1="78121" y1="8065" x2="78121" y2="8065"/>
                        <a14:foregroundMark x1="96779" y1="44153" x2="96779" y2="44153"/>
                        <a14:foregroundMark x1="9799" y1="92339" x2="9799" y2="92339"/>
                        <a14:foregroundMark x1="5369" y1="94355" x2="5369" y2="94355"/>
                        <a14:foregroundMark x1="22685" y1="72177" x2="22685" y2="72177"/>
                        <a14:foregroundMark x1="8188" y1="86089" x2="8188" y2="86089"/>
                        <a14:foregroundMark x1="6309" y1="88911" x2="6309" y2="88911"/>
                        <a14:foregroundMark x1="5101" y1="90524" x2="5101" y2="90524"/>
                        <a14:backgroundMark x1="58523" y1="73589" x2="58523" y2="73589"/>
                        <a14:backgroundMark x1="93289" y1="48185" x2="93289" y2="48185"/>
                        <a14:backgroundMark x1="93826" y1="48185" x2="93826" y2="48185"/>
                        <a14:backgroundMark x1="93826" y1="48185" x2="93826" y2="48185"/>
                        <a14:backgroundMark x1="93826" y1="48185" x2="92483" y2="48790"/>
                      </a14:backgroundRemoval>
                    </a14:imgEffect>
                  </a14:imgLayer>
                </a14:imgProps>
              </a:ext>
            </a:extLst>
          </a:blip>
          <a:stretch>
            <a:fillRect/>
          </a:stretch>
        </p:blipFill>
        <p:spPr>
          <a:xfrm>
            <a:off x="2811734" y="1821620"/>
            <a:ext cx="3520529" cy="23438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2"/>
        <p:cNvGrpSpPr/>
        <p:nvPr/>
      </p:nvGrpSpPr>
      <p:grpSpPr>
        <a:xfrm>
          <a:off x="0" y="0"/>
          <a:ext cx="0" cy="0"/>
          <a:chOff x="0" y="0"/>
          <a:chExt cx="0" cy="0"/>
        </a:xfrm>
      </p:grpSpPr>
      <p:sp>
        <p:nvSpPr>
          <p:cNvPr id="73" name="Google Shape;73;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Objective</a:t>
            </a:r>
            <a:endParaRPr dirty="0"/>
          </a:p>
        </p:txBody>
      </p:sp>
      <p:sp>
        <p:nvSpPr>
          <p:cNvPr id="74" name="Google Shape;74;p15"/>
          <p:cNvSpPr txBox="1">
            <a:spLocks noGrp="1"/>
          </p:cNvSpPr>
          <p:nvPr>
            <p:ph type="body" idx="1"/>
          </p:nvPr>
        </p:nvSpPr>
        <p:spPr>
          <a:xfrm>
            <a:off x="311700" y="1152475"/>
            <a:ext cx="8520600" cy="572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dirty="0"/>
              <a:t>Objective: </a:t>
            </a:r>
            <a:r>
              <a:rPr lang="en" dirty="0">
                <a:solidFill>
                  <a:srgbClr val="000000"/>
                </a:solidFill>
              </a:rPr>
              <a:t>Design a carrier-capable supersonic strike aircraft that </a:t>
            </a:r>
            <a:r>
              <a:rPr lang="en" b="1" dirty="0">
                <a:solidFill>
                  <a:srgbClr val="2323B5"/>
                </a:solidFill>
              </a:rPr>
              <a:t>breaks cost trends.</a:t>
            </a:r>
            <a:endParaRPr b="1" dirty="0">
              <a:solidFill>
                <a:srgbClr val="2323B5"/>
              </a:solidFill>
            </a:endParaRPr>
          </a:p>
        </p:txBody>
      </p:sp>
      <p:sp>
        <p:nvSpPr>
          <p:cNvPr id="2" name="TextBox 1">
            <a:extLst>
              <a:ext uri="{FF2B5EF4-FFF2-40B4-BE49-F238E27FC236}">
                <a16:creationId xmlns:a16="http://schemas.microsoft.com/office/drawing/2014/main" id="{F5496169-2ACC-77F4-14ED-2732F650FC9A}"/>
              </a:ext>
            </a:extLst>
          </p:cNvPr>
          <p:cNvSpPr txBox="1"/>
          <p:nvPr/>
        </p:nvSpPr>
        <p:spPr>
          <a:xfrm>
            <a:off x="498763" y="1852998"/>
            <a:ext cx="4073237" cy="2123658"/>
          </a:xfrm>
          <a:prstGeom prst="rect">
            <a:avLst/>
          </a:prstGeom>
          <a:noFill/>
        </p:spPr>
        <p:txBody>
          <a:bodyPr wrap="square" rtlCol="0">
            <a:spAutoFit/>
          </a:bodyPr>
          <a:lstStyle/>
          <a:p>
            <a:pPr lvl="0">
              <a:spcBef>
                <a:spcPts val="1200"/>
              </a:spcBef>
            </a:pPr>
            <a:r>
              <a:rPr lang="en-US" sz="1800" dirty="0">
                <a:solidFill>
                  <a:schemeClr val="bg1">
                    <a:lumMod val="10000"/>
                  </a:schemeClr>
                </a:solidFill>
                <a:latin typeface="Average" panose="020B0604020202020204" charset="0"/>
              </a:rPr>
              <a:t>Performance Requirements</a:t>
            </a:r>
            <a:r>
              <a:rPr lang="en-US" sz="1800" dirty="0">
                <a:latin typeface="Average" panose="020B0604020202020204" charset="0"/>
              </a:rPr>
              <a:t>:</a:t>
            </a:r>
          </a:p>
          <a:p>
            <a:pPr marL="457200" lvl="0" indent="-342900">
              <a:spcBef>
                <a:spcPts val="1200"/>
              </a:spcBef>
              <a:buSzPts val="1800"/>
              <a:buChar char="●"/>
            </a:pPr>
            <a:r>
              <a:rPr lang="en-US" sz="1800" dirty="0">
                <a:latin typeface="Average" panose="020B0604020202020204" charset="0"/>
              </a:rPr>
              <a:t>Mach </a:t>
            </a:r>
            <a:r>
              <a:rPr lang="en-US" sz="1800" b="1" dirty="0">
                <a:solidFill>
                  <a:schemeClr val="accent1"/>
                </a:solidFill>
                <a:latin typeface="Average" panose="020B0604020202020204" charset="0"/>
              </a:rPr>
              <a:t>1.6-2.0</a:t>
            </a:r>
            <a:r>
              <a:rPr lang="en-US" sz="1800" dirty="0">
                <a:latin typeface="Average" panose="020B0604020202020204" charset="0"/>
              </a:rPr>
              <a:t> high altitude dash capability</a:t>
            </a:r>
          </a:p>
          <a:p>
            <a:pPr marL="457200" lvl="0" indent="-342900">
              <a:buSzPts val="1800"/>
              <a:buChar char="●"/>
            </a:pPr>
            <a:r>
              <a:rPr lang="en-US" sz="1800" dirty="0">
                <a:latin typeface="Average" panose="020B0604020202020204" charset="0"/>
              </a:rPr>
              <a:t>Carrier compatible configuration </a:t>
            </a:r>
          </a:p>
          <a:p>
            <a:pPr marL="457200" lvl="0" indent="-342900">
              <a:buSzPts val="1800"/>
              <a:buChar char="●"/>
            </a:pPr>
            <a:r>
              <a:rPr lang="en-US" sz="1800" dirty="0">
                <a:latin typeface="Average" panose="020B0604020202020204" charset="0"/>
              </a:rPr>
              <a:t>TOGW under </a:t>
            </a:r>
            <a:r>
              <a:rPr lang="en-US" sz="1800" b="1" dirty="0">
                <a:solidFill>
                  <a:schemeClr val="accent1"/>
                </a:solidFill>
                <a:latin typeface="Average" panose="020B0604020202020204" charset="0"/>
              </a:rPr>
              <a:t>90,000 </a:t>
            </a:r>
            <a:r>
              <a:rPr lang="en-US" sz="1800" b="1" dirty="0" err="1">
                <a:solidFill>
                  <a:schemeClr val="accent1"/>
                </a:solidFill>
                <a:latin typeface="Average" panose="020B0604020202020204" charset="0"/>
              </a:rPr>
              <a:t>lbs</a:t>
            </a:r>
            <a:endParaRPr lang="en-US" sz="1800" b="1" dirty="0">
              <a:solidFill>
                <a:schemeClr val="accent1"/>
              </a:solidFill>
              <a:latin typeface="Average" panose="020B0604020202020204" charset="0"/>
            </a:endParaRPr>
          </a:p>
          <a:p>
            <a:pPr marL="457200" lvl="0" indent="-342900">
              <a:buSzPts val="1800"/>
              <a:buChar char="●"/>
            </a:pPr>
            <a:r>
              <a:rPr lang="en-US" sz="1800" b="1" dirty="0">
                <a:solidFill>
                  <a:schemeClr val="accent1"/>
                </a:solidFill>
                <a:latin typeface="Average" panose="020B0604020202020204" charset="0"/>
              </a:rPr>
              <a:t>700-1000 nm.</a:t>
            </a:r>
            <a:r>
              <a:rPr lang="en-US" sz="1800" dirty="0">
                <a:latin typeface="Average" panose="020B0604020202020204" charset="0"/>
              </a:rPr>
              <a:t> combat radius</a:t>
            </a:r>
          </a:p>
          <a:p>
            <a:endParaRPr lang="en-US" dirty="0"/>
          </a:p>
        </p:txBody>
      </p:sp>
      <p:sp>
        <p:nvSpPr>
          <p:cNvPr id="3" name="TextBox 2">
            <a:extLst>
              <a:ext uri="{FF2B5EF4-FFF2-40B4-BE49-F238E27FC236}">
                <a16:creationId xmlns:a16="http://schemas.microsoft.com/office/drawing/2014/main" id="{4866A90B-1584-A4F7-AFB1-558B85F58F2A}"/>
              </a:ext>
            </a:extLst>
          </p:cNvPr>
          <p:cNvSpPr txBox="1"/>
          <p:nvPr/>
        </p:nvSpPr>
        <p:spPr>
          <a:xfrm>
            <a:off x="4572000" y="1852998"/>
            <a:ext cx="3138055" cy="2862322"/>
          </a:xfrm>
          <a:prstGeom prst="rect">
            <a:avLst/>
          </a:prstGeom>
          <a:noFill/>
        </p:spPr>
        <p:txBody>
          <a:bodyPr wrap="square" rtlCol="0">
            <a:spAutoFit/>
          </a:bodyPr>
          <a:lstStyle/>
          <a:p>
            <a:pPr lvl="0">
              <a:spcBef>
                <a:spcPts val="1200"/>
              </a:spcBef>
            </a:pPr>
            <a:r>
              <a:rPr lang="en-US" sz="1800" dirty="0">
                <a:solidFill>
                  <a:schemeClr val="bg1">
                    <a:lumMod val="10000"/>
                  </a:schemeClr>
                </a:solidFill>
                <a:latin typeface="Average" panose="020B0604020202020204" charset="0"/>
              </a:rPr>
              <a:t>Cut costs lower than:</a:t>
            </a:r>
          </a:p>
          <a:p>
            <a:pPr marL="457200" lvl="0" indent="-342900">
              <a:spcBef>
                <a:spcPts val="1200"/>
              </a:spcBef>
              <a:buSzPts val="1800"/>
              <a:buChar char="●"/>
            </a:pPr>
            <a:r>
              <a:rPr lang="en-US" sz="1800" dirty="0">
                <a:latin typeface="Average" panose="020B0604020202020204" charset="0"/>
              </a:rPr>
              <a:t>R&amp;D cost of </a:t>
            </a:r>
            <a:r>
              <a:rPr lang="en-US" sz="1800" b="1" dirty="0">
                <a:solidFill>
                  <a:srgbClr val="2323B5"/>
                </a:solidFill>
                <a:latin typeface="Average" panose="020B0604020202020204" charset="0"/>
              </a:rPr>
              <a:t>$2 trillion </a:t>
            </a:r>
            <a:r>
              <a:rPr lang="en-US" sz="1800" dirty="0">
                <a:latin typeface="Average" panose="020B0604020202020204" charset="0"/>
              </a:rPr>
              <a:t>for F-35 program</a:t>
            </a:r>
          </a:p>
          <a:p>
            <a:pPr marL="457200" lvl="0" indent="-342900">
              <a:spcBef>
                <a:spcPts val="1200"/>
              </a:spcBef>
              <a:buSzPts val="1800"/>
              <a:buChar char="●"/>
            </a:pPr>
            <a:r>
              <a:rPr lang="en-US" sz="1800" dirty="0">
                <a:latin typeface="Average" panose="020B0604020202020204" charset="0"/>
              </a:rPr>
              <a:t>Unit flyaway cost of </a:t>
            </a:r>
            <a:r>
              <a:rPr lang="en-US" sz="1800" b="1" dirty="0">
                <a:solidFill>
                  <a:srgbClr val="2323B5"/>
                </a:solidFill>
                <a:latin typeface="Average" panose="020B0604020202020204" charset="0"/>
              </a:rPr>
              <a:t>$102 million</a:t>
            </a:r>
            <a:r>
              <a:rPr lang="en-US" sz="1800" dirty="0">
                <a:latin typeface="Average" panose="020B0604020202020204" charset="0"/>
              </a:rPr>
              <a:t> for F-35C</a:t>
            </a:r>
          </a:p>
          <a:p>
            <a:pPr marL="457200" lvl="0" indent="-342900">
              <a:spcBef>
                <a:spcPts val="1200"/>
              </a:spcBef>
              <a:buSzPts val="1800"/>
              <a:buChar char="●"/>
            </a:pPr>
            <a:endParaRPr lang="en-US" sz="1800" dirty="0">
              <a:latin typeface="Average" panose="020B0604020202020204" charset="0"/>
            </a:endParaRPr>
          </a:p>
          <a:p>
            <a:pPr marL="457200" lvl="4" indent="-342900">
              <a:spcBef>
                <a:spcPts val="1200"/>
              </a:spcBef>
              <a:buSzPts val="1800"/>
              <a:buChar char="●"/>
            </a:pPr>
            <a:endParaRPr lang="en-US" sz="1800" dirty="0">
              <a:latin typeface="Average" panose="020B0604020202020204" charset="0"/>
            </a:endParaRPr>
          </a:p>
          <a:p>
            <a:endParaRPr lang="en-US" dirty="0"/>
          </a:p>
        </p:txBody>
      </p:sp>
      <p:sp>
        <p:nvSpPr>
          <p:cNvPr id="5" name="TextBox 4">
            <a:extLst>
              <a:ext uri="{FF2B5EF4-FFF2-40B4-BE49-F238E27FC236}">
                <a16:creationId xmlns:a16="http://schemas.microsoft.com/office/drawing/2014/main" id="{1DD186C1-8C62-546A-252E-431AA43FEEBC}"/>
              </a:ext>
            </a:extLst>
          </p:cNvPr>
          <p:cNvSpPr txBox="1"/>
          <p:nvPr/>
        </p:nvSpPr>
        <p:spPr>
          <a:xfrm>
            <a:off x="131617" y="4821382"/>
            <a:ext cx="1676401" cy="246221"/>
          </a:xfrm>
          <a:prstGeom prst="rect">
            <a:avLst/>
          </a:prstGeom>
          <a:noFill/>
        </p:spPr>
        <p:txBody>
          <a:bodyPr wrap="square" rtlCol="0">
            <a:spAutoFit/>
          </a:bodyPr>
          <a:lstStyle/>
          <a:p>
            <a:r>
              <a:rPr lang="en-US" sz="1000" dirty="0"/>
              <a:t>Ludwigson, Maurer 2024</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5"/>
        <p:cNvGrpSpPr/>
        <p:nvPr/>
      </p:nvGrpSpPr>
      <p:grpSpPr>
        <a:xfrm>
          <a:off x="0" y="0"/>
          <a:ext cx="0" cy="0"/>
          <a:chOff x="0" y="0"/>
          <a:chExt cx="0" cy="0"/>
        </a:xfrm>
      </p:grpSpPr>
      <p:sp>
        <p:nvSpPr>
          <p:cNvPr id="66" name="Google Shape;66;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Overview: YF-52 Coyote</a:t>
            </a:r>
            <a:endParaRPr dirty="0"/>
          </a:p>
        </p:txBody>
      </p:sp>
      <p:sp>
        <p:nvSpPr>
          <p:cNvPr id="3" name="Text Placeholder 2">
            <a:extLst>
              <a:ext uri="{FF2B5EF4-FFF2-40B4-BE49-F238E27FC236}">
                <a16:creationId xmlns:a16="http://schemas.microsoft.com/office/drawing/2014/main" id="{C2352B7C-0B97-6CEA-BB23-3D65A6ACA604}"/>
              </a:ext>
            </a:extLst>
          </p:cNvPr>
          <p:cNvSpPr>
            <a:spLocks noGrp="1"/>
          </p:cNvSpPr>
          <p:nvPr>
            <p:ph type="body" idx="1"/>
          </p:nvPr>
        </p:nvSpPr>
        <p:spPr>
          <a:xfrm>
            <a:off x="311701" y="1152475"/>
            <a:ext cx="2860963" cy="2453220"/>
          </a:xfrm>
        </p:spPr>
        <p:txBody>
          <a:bodyPr>
            <a:normAutofit/>
          </a:bodyPr>
          <a:lstStyle/>
          <a:p>
            <a:pPr marL="114300" indent="0">
              <a:buNone/>
            </a:pPr>
            <a:r>
              <a:rPr lang="en-US" dirty="0"/>
              <a:t>YF-52 Concept:</a:t>
            </a:r>
          </a:p>
          <a:p>
            <a:r>
              <a:rPr lang="en-US" dirty="0"/>
              <a:t>R&amp;D cost: </a:t>
            </a:r>
            <a:r>
              <a:rPr lang="en-US" b="1" dirty="0">
                <a:solidFill>
                  <a:schemeClr val="accent1"/>
                </a:solidFill>
              </a:rPr>
              <a:t>$27 billion</a:t>
            </a:r>
          </a:p>
          <a:p>
            <a:r>
              <a:rPr lang="en-US" dirty="0"/>
              <a:t>Unit cost: </a:t>
            </a:r>
            <a:r>
              <a:rPr lang="en-US" b="1" dirty="0">
                <a:solidFill>
                  <a:srgbClr val="00B050"/>
                </a:solidFill>
              </a:rPr>
              <a:t>$55 million</a:t>
            </a:r>
          </a:p>
          <a:p>
            <a:r>
              <a:rPr lang="en-US" dirty="0"/>
              <a:t>Gross weight: 36700 </a:t>
            </a:r>
            <a:r>
              <a:rPr lang="en-US" dirty="0" err="1"/>
              <a:t>lb</a:t>
            </a:r>
            <a:endParaRPr lang="en-US" dirty="0"/>
          </a:p>
          <a:p>
            <a:r>
              <a:rPr lang="en-US" dirty="0"/>
              <a:t>Engines: 1</a:t>
            </a:r>
          </a:p>
          <a:p>
            <a:r>
              <a:rPr lang="en-US" dirty="0"/>
              <a:t>Total thrust: 33500 </a:t>
            </a:r>
            <a:r>
              <a:rPr lang="en-US" dirty="0" err="1"/>
              <a:t>lb</a:t>
            </a:r>
            <a:endParaRPr lang="en-US" dirty="0"/>
          </a:p>
          <a:p>
            <a:r>
              <a:rPr lang="en-US" dirty="0"/>
              <a:t>Wing area: 400 sq ft</a:t>
            </a:r>
          </a:p>
        </p:txBody>
      </p:sp>
      <p:sp>
        <p:nvSpPr>
          <p:cNvPr id="4" name="Text Placeholder 2">
            <a:extLst>
              <a:ext uri="{FF2B5EF4-FFF2-40B4-BE49-F238E27FC236}">
                <a16:creationId xmlns:a16="http://schemas.microsoft.com/office/drawing/2014/main" id="{CC03D598-D2E6-0A9F-E212-6E042505B8BB}"/>
              </a:ext>
            </a:extLst>
          </p:cNvPr>
          <p:cNvSpPr txBox="1">
            <a:spLocks/>
          </p:cNvSpPr>
          <p:nvPr/>
        </p:nvSpPr>
        <p:spPr>
          <a:xfrm>
            <a:off x="3266195" y="1152475"/>
            <a:ext cx="2860963" cy="245322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accent3"/>
              </a:buClr>
              <a:buSzPts val="1800"/>
              <a:buFont typeface="Average"/>
              <a:buChar char="●"/>
              <a:defRPr sz="1800" b="0" i="0" u="none" strike="noStrike" cap="none">
                <a:solidFill>
                  <a:schemeClr val="accent3"/>
                </a:solidFill>
                <a:latin typeface="Average"/>
                <a:ea typeface="Average"/>
                <a:cs typeface="Average"/>
                <a:sym typeface="Average"/>
              </a:defRPr>
            </a:lvl1pPr>
            <a:lvl2pPr marL="914400" marR="0" lvl="1"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2pPr>
            <a:lvl3pPr marL="1371600" marR="0" lvl="2"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3pPr>
            <a:lvl4pPr marL="1828800" marR="0" lvl="3"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4pPr>
            <a:lvl5pPr marL="2286000" marR="0" lvl="4"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5pPr>
            <a:lvl6pPr marL="2743200" marR="0" lvl="5"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6pPr>
            <a:lvl7pPr marL="3200400" marR="0" lvl="6"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7pPr>
            <a:lvl8pPr marL="3657600" marR="0" lvl="7"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8pPr>
            <a:lvl9pPr marL="4114800" marR="0" lvl="8"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9pPr>
          </a:lstStyle>
          <a:p>
            <a:pPr marL="114300" indent="0">
              <a:buNone/>
            </a:pPr>
            <a:r>
              <a:rPr lang="en-US" dirty="0"/>
              <a:t>F-35 Lightning II:</a:t>
            </a:r>
          </a:p>
          <a:p>
            <a:r>
              <a:rPr lang="en-US" dirty="0"/>
              <a:t>R&amp;D cost: </a:t>
            </a:r>
            <a:r>
              <a:rPr lang="en-US" b="1" dirty="0">
                <a:solidFill>
                  <a:srgbClr val="C00000"/>
                </a:solidFill>
              </a:rPr>
              <a:t>$2 trillion</a:t>
            </a:r>
          </a:p>
          <a:p>
            <a:r>
              <a:rPr lang="en-US" dirty="0"/>
              <a:t>Unit cost: </a:t>
            </a:r>
            <a:r>
              <a:rPr lang="en-US" b="1" dirty="0">
                <a:solidFill>
                  <a:srgbClr val="C00000"/>
                </a:solidFill>
              </a:rPr>
              <a:t>$102 million</a:t>
            </a:r>
          </a:p>
          <a:p>
            <a:r>
              <a:rPr lang="en-US" dirty="0"/>
              <a:t>Gross weight: 50000 </a:t>
            </a:r>
            <a:r>
              <a:rPr lang="en-US" dirty="0" err="1"/>
              <a:t>lb</a:t>
            </a:r>
            <a:endParaRPr lang="en-US" dirty="0"/>
          </a:p>
          <a:p>
            <a:r>
              <a:rPr lang="en-US" dirty="0"/>
              <a:t>Engines: 1</a:t>
            </a:r>
          </a:p>
          <a:p>
            <a:r>
              <a:rPr lang="en-US" dirty="0"/>
              <a:t>Total thrust: 43000 </a:t>
            </a:r>
            <a:r>
              <a:rPr lang="en-US" dirty="0" err="1"/>
              <a:t>lb</a:t>
            </a:r>
            <a:endParaRPr lang="en-US" dirty="0"/>
          </a:p>
          <a:p>
            <a:r>
              <a:rPr lang="en-US" dirty="0"/>
              <a:t>Wing area: 460 sq ft</a:t>
            </a:r>
          </a:p>
        </p:txBody>
      </p:sp>
      <p:sp>
        <p:nvSpPr>
          <p:cNvPr id="2" name="Text Placeholder 2">
            <a:extLst>
              <a:ext uri="{FF2B5EF4-FFF2-40B4-BE49-F238E27FC236}">
                <a16:creationId xmlns:a16="http://schemas.microsoft.com/office/drawing/2014/main" id="{1308A59D-8FCF-F0A2-D82B-DE70FEE45AA5}"/>
              </a:ext>
            </a:extLst>
          </p:cNvPr>
          <p:cNvSpPr txBox="1">
            <a:spLocks/>
          </p:cNvSpPr>
          <p:nvPr/>
        </p:nvSpPr>
        <p:spPr>
          <a:xfrm>
            <a:off x="6220690" y="1152475"/>
            <a:ext cx="2860963" cy="245322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accent3"/>
              </a:buClr>
              <a:buSzPts val="1800"/>
              <a:buFont typeface="Average"/>
              <a:buChar char="●"/>
              <a:defRPr sz="1800" b="0" i="0" u="none" strike="noStrike" cap="none">
                <a:solidFill>
                  <a:schemeClr val="accent3"/>
                </a:solidFill>
                <a:latin typeface="Average"/>
                <a:ea typeface="Average"/>
                <a:cs typeface="Average"/>
                <a:sym typeface="Average"/>
              </a:defRPr>
            </a:lvl1pPr>
            <a:lvl2pPr marL="914400" marR="0" lvl="1"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2pPr>
            <a:lvl3pPr marL="1371600" marR="0" lvl="2"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3pPr>
            <a:lvl4pPr marL="1828800" marR="0" lvl="3"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4pPr>
            <a:lvl5pPr marL="2286000" marR="0" lvl="4"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5pPr>
            <a:lvl6pPr marL="2743200" marR="0" lvl="5"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6pPr>
            <a:lvl7pPr marL="3200400" marR="0" lvl="6"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7pPr>
            <a:lvl8pPr marL="3657600" marR="0" lvl="7"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8pPr>
            <a:lvl9pPr marL="4114800" marR="0" lvl="8"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9pPr>
          </a:lstStyle>
          <a:p>
            <a:pPr marL="114300" indent="0">
              <a:buNone/>
            </a:pPr>
            <a:r>
              <a:rPr lang="en-US" dirty="0"/>
              <a:t>F/A-18E/F Super Hornet:</a:t>
            </a:r>
          </a:p>
          <a:p>
            <a:r>
              <a:rPr lang="en-US" dirty="0"/>
              <a:t>R&amp;D cost: </a:t>
            </a:r>
            <a:r>
              <a:rPr lang="en-US" b="1" dirty="0">
                <a:solidFill>
                  <a:schemeClr val="accent1"/>
                </a:solidFill>
              </a:rPr>
              <a:t>$10 billion </a:t>
            </a:r>
          </a:p>
          <a:p>
            <a:r>
              <a:rPr lang="en-US" dirty="0"/>
              <a:t>Unit cost </a:t>
            </a:r>
            <a:r>
              <a:rPr lang="en-US" b="1" dirty="0">
                <a:solidFill>
                  <a:srgbClr val="C00000"/>
                </a:solidFill>
              </a:rPr>
              <a:t>$72 million </a:t>
            </a:r>
          </a:p>
          <a:p>
            <a:r>
              <a:rPr lang="en-US" dirty="0"/>
              <a:t>Gross weight 47000 </a:t>
            </a:r>
            <a:r>
              <a:rPr lang="en-US" dirty="0" err="1"/>
              <a:t>lb</a:t>
            </a:r>
            <a:r>
              <a:rPr lang="en-US" dirty="0"/>
              <a:t> </a:t>
            </a:r>
          </a:p>
          <a:p>
            <a:r>
              <a:rPr lang="en-US" dirty="0"/>
              <a:t>Engines: 2 </a:t>
            </a:r>
          </a:p>
          <a:p>
            <a:r>
              <a:rPr lang="en-US" dirty="0"/>
              <a:t>Total thrust: 44000 </a:t>
            </a:r>
            <a:r>
              <a:rPr lang="en-US" dirty="0" err="1"/>
              <a:t>lb</a:t>
            </a:r>
            <a:endParaRPr lang="en-US" dirty="0"/>
          </a:p>
          <a:p>
            <a:r>
              <a:rPr lang="en-US" dirty="0"/>
              <a:t>Wing area: 500 sq ft</a:t>
            </a:r>
          </a:p>
        </p:txBody>
      </p:sp>
      <p:sp>
        <p:nvSpPr>
          <p:cNvPr id="6" name="TextBox 5">
            <a:extLst>
              <a:ext uri="{FF2B5EF4-FFF2-40B4-BE49-F238E27FC236}">
                <a16:creationId xmlns:a16="http://schemas.microsoft.com/office/drawing/2014/main" id="{9583524C-B3B1-99F8-C3F0-58B8CAB86D53}"/>
              </a:ext>
            </a:extLst>
          </p:cNvPr>
          <p:cNvSpPr txBox="1"/>
          <p:nvPr/>
        </p:nvSpPr>
        <p:spPr>
          <a:xfrm>
            <a:off x="131617" y="4821382"/>
            <a:ext cx="1676401" cy="246221"/>
          </a:xfrm>
          <a:prstGeom prst="rect">
            <a:avLst/>
          </a:prstGeom>
          <a:noFill/>
        </p:spPr>
        <p:txBody>
          <a:bodyPr wrap="square" rtlCol="0">
            <a:spAutoFit/>
          </a:bodyPr>
          <a:lstStyle/>
          <a:p>
            <a:r>
              <a:rPr lang="en-US" sz="1000" dirty="0"/>
              <a:t>Hill, 2024</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solidFill>
          <a:schemeClr val="bg1">
            <a:lumMod val="10000"/>
          </a:schemeClr>
        </a:solidFill>
        <a:effectLst/>
      </p:bgPr>
    </p:bg>
    <p:spTree>
      <p:nvGrpSpPr>
        <p:cNvPr id="1" name="Shape 65">
          <a:extLst>
            <a:ext uri="{FF2B5EF4-FFF2-40B4-BE49-F238E27FC236}">
              <a16:creationId xmlns:a16="http://schemas.microsoft.com/office/drawing/2014/main" id="{25434613-082D-BF66-D46D-F5DA3F37AB37}"/>
            </a:ext>
          </a:extLst>
        </p:cNvPr>
        <p:cNvGrpSpPr/>
        <p:nvPr/>
      </p:nvGrpSpPr>
      <p:grpSpPr>
        <a:xfrm>
          <a:off x="0" y="0"/>
          <a:ext cx="0" cy="0"/>
          <a:chOff x="0" y="0"/>
          <a:chExt cx="0" cy="0"/>
        </a:xfrm>
      </p:grpSpPr>
      <p:sp>
        <p:nvSpPr>
          <p:cNvPr id="5" name="Text Placeholder 2">
            <a:extLst>
              <a:ext uri="{FF2B5EF4-FFF2-40B4-BE49-F238E27FC236}">
                <a16:creationId xmlns:a16="http://schemas.microsoft.com/office/drawing/2014/main" id="{88059BA5-9D87-B8A5-7031-AC62CEF3EF14}"/>
              </a:ext>
            </a:extLst>
          </p:cNvPr>
          <p:cNvSpPr txBox="1">
            <a:spLocks/>
          </p:cNvSpPr>
          <p:nvPr/>
        </p:nvSpPr>
        <p:spPr>
          <a:xfrm>
            <a:off x="2122339" y="2021081"/>
            <a:ext cx="4899321" cy="86239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accent3"/>
              </a:buClr>
              <a:buSzPts val="1800"/>
              <a:buFont typeface="Average"/>
              <a:buChar char="●"/>
              <a:defRPr sz="1800" b="0" i="0" u="none" strike="noStrike" cap="none">
                <a:solidFill>
                  <a:schemeClr val="accent3"/>
                </a:solidFill>
                <a:latin typeface="Average"/>
                <a:ea typeface="Average"/>
                <a:cs typeface="Average"/>
                <a:sym typeface="Average"/>
              </a:defRPr>
            </a:lvl1pPr>
            <a:lvl2pPr marL="914400" marR="0" lvl="1"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2pPr>
            <a:lvl3pPr marL="1371600" marR="0" lvl="2"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3pPr>
            <a:lvl4pPr marL="1828800" marR="0" lvl="3"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4pPr>
            <a:lvl5pPr marL="2286000" marR="0" lvl="4"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5pPr>
            <a:lvl6pPr marL="2743200" marR="0" lvl="5"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6pPr>
            <a:lvl7pPr marL="3200400" marR="0" lvl="6"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7pPr>
            <a:lvl8pPr marL="3657600" marR="0" lvl="7"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8pPr>
            <a:lvl9pPr marL="4114800" marR="0" lvl="8" indent="-317500" algn="l" rtl="0">
              <a:lnSpc>
                <a:spcPct val="115000"/>
              </a:lnSpc>
              <a:spcBef>
                <a:spcPts val="0"/>
              </a:spcBef>
              <a:spcAft>
                <a:spcPts val="0"/>
              </a:spcAft>
              <a:buClr>
                <a:schemeClr val="accent3"/>
              </a:buClr>
              <a:buSzPts val="1400"/>
              <a:buFont typeface="Average"/>
              <a:buChar char="■"/>
              <a:defRPr sz="1400" b="0" i="0" u="none" strike="noStrike" cap="none">
                <a:solidFill>
                  <a:schemeClr val="accent3"/>
                </a:solidFill>
                <a:latin typeface="Average"/>
                <a:ea typeface="Average"/>
                <a:cs typeface="Average"/>
                <a:sym typeface="Average"/>
              </a:defRPr>
            </a:lvl9pPr>
          </a:lstStyle>
          <a:p>
            <a:pPr marL="114300" indent="0">
              <a:buNone/>
            </a:pPr>
            <a:r>
              <a:rPr lang="en-US" sz="2400" b="1" dirty="0">
                <a:solidFill>
                  <a:srgbClr val="00B050"/>
                </a:solidFill>
              </a:rPr>
              <a:t>98% decrease </a:t>
            </a:r>
            <a:r>
              <a:rPr lang="en-US" sz="2400" dirty="0">
                <a:solidFill>
                  <a:schemeClr val="bg1"/>
                </a:solidFill>
              </a:rPr>
              <a:t>in development cost. </a:t>
            </a:r>
          </a:p>
          <a:p>
            <a:pPr marL="114300" indent="0">
              <a:buNone/>
            </a:pPr>
            <a:r>
              <a:rPr lang="en-US" sz="2400" b="1" dirty="0">
                <a:solidFill>
                  <a:srgbClr val="00B050"/>
                </a:solidFill>
              </a:rPr>
              <a:t>46% decrease </a:t>
            </a:r>
            <a:r>
              <a:rPr lang="en-US" sz="2400" dirty="0">
                <a:solidFill>
                  <a:schemeClr val="bg1"/>
                </a:solidFill>
              </a:rPr>
              <a:t>in unit cost.</a:t>
            </a:r>
          </a:p>
        </p:txBody>
      </p:sp>
      <p:sp>
        <p:nvSpPr>
          <p:cNvPr id="9" name="TextBox 8">
            <a:extLst>
              <a:ext uri="{FF2B5EF4-FFF2-40B4-BE49-F238E27FC236}">
                <a16:creationId xmlns:a16="http://schemas.microsoft.com/office/drawing/2014/main" id="{2F01A0E5-7523-5A49-2430-4EA7670AA578}"/>
              </a:ext>
            </a:extLst>
          </p:cNvPr>
          <p:cNvSpPr txBox="1"/>
          <p:nvPr/>
        </p:nvSpPr>
        <p:spPr>
          <a:xfrm>
            <a:off x="131617" y="4821382"/>
            <a:ext cx="1676401" cy="246221"/>
          </a:xfrm>
          <a:prstGeom prst="rect">
            <a:avLst/>
          </a:prstGeom>
          <a:noFill/>
        </p:spPr>
        <p:txBody>
          <a:bodyPr wrap="square" rtlCol="0">
            <a:spAutoFit/>
          </a:bodyPr>
          <a:lstStyle/>
          <a:p>
            <a:r>
              <a:rPr lang="en-US" sz="1000" dirty="0">
                <a:solidFill>
                  <a:schemeClr val="bg1"/>
                </a:solidFill>
              </a:rPr>
              <a:t>Ludwigson, Maurer 2024</a:t>
            </a:r>
          </a:p>
        </p:txBody>
      </p:sp>
    </p:spTree>
    <p:extLst>
      <p:ext uri="{BB962C8B-B14F-4D97-AF65-F5344CB8AC3E}">
        <p14:creationId xmlns:p14="http://schemas.microsoft.com/office/powerpoint/2010/main" val="13360450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5"/>
        <p:cNvGrpSpPr/>
        <p:nvPr/>
      </p:nvGrpSpPr>
      <p:grpSpPr>
        <a:xfrm>
          <a:off x="0" y="0"/>
          <a:ext cx="0" cy="0"/>
          <a:chOff x="0" y="0"/>
          <a:chExt cx="0" cy="0"/>
        </a:xfrm>
      </p:grpSpPr>
      <p:sp>
        <p:nvSpPr>
          <p:cNvPr id="86" name="Google Shape;86;p17"/>
          <p:cNvSpPr txBox="1">
            <a:spLocks noGrp="1"/>
          </p:cNvSpPr>
          <p:nvPr>
            <p:ph type="title"/>
          </p:nvPr>
        </p:nvSpPr>
        <p:spPr>
          <a:xfrm>
            <a:off x="311700" y="91734"/>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Dimensioned three-view drawing of the COYOTE</a:t>
            </a:r>
            <a:endParaRPr dirty="0"/>
          </a:p>
        </p:txBody>
      </p:sp>
      <p:pic>
        <p:nvPicPr>
          <p:cNvPr id="3" name="Picture 2">
            <a:extLst>
              <a:ext uri="{FF2B5EF4-FFF2-40B4-BE49-F238E27FC236}">
                <a16:creationId xmlns:a16="http://schemas.microsoft.com/office/drawing/2014/main" id="{1277241F-F9FD-398A-5586-F508F2842EC0}"/>
              </a:ext>
            </a:extLst>
          </p:cNvPr>
          <p:cNvPicPr>
            <a:picLocks noChangeAspect="1"/>
          </p:cNvPicPr>
          <p:nvPr/>
        </p:nvPicPr>
        <p:blipFill>
          <a:blip r:embed="rId3"/>
          <a:stretch>
            <a:fillRect/>
          </a:stretch>
        </p:blipFill>
        <p:spPr>
          <a:xfrm>
            <a:off x="145472" y="664434"/>
            <a:ext cx="7862455" cy="4333257"/>
          </a:xfrm>
          <a:prstGeom prst="rect">
            <a:avLst/>
          </a:prstGeom>
          <a:ln w="19050">
            <a:solidFill>
              <a:schemeClr val="accent6"/>
            </a:solid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0"/>
        <p:cNvGrpSpPr/>
        <p:nvPr/>
      </p:nvGrpSpPr>
      <p:grpSpPr>
        <a:xfrm>
          <a:off x="0" y="0"/>
          <a:ext cx="0" cy="0"/>
          <a:chOff x="0" y="0"/>
          <a:chExt cx="0" cy="0"/>
        </a:xfrm>
      </p:grpSpPr>
      <p:sp>
        <p:nvSpPr>
          <p:cNvPr id="91" name="Google Shape;91;p18"/>
          <p:cNvSpPr txBox="1">
            <a:spLocks noGrp="1"/>
          </p:cNvSpPr>
          <p:nvPr>
            <p:ph type="title"/>
          </p:nvPr>
        </p:nvSpPr>
        <p:spPr>
          <a:xfrm>
            <a:off x="311700" y="98662"/>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Fuselage</a:t>
            </a:r>
            <a:endParaRPr dirty="0"/>
          </a:p>
        </p:txBody>
      </p:sp>
      <p:pic>
        <p:nvPicPr>
          <p:cNvPr id="4" name="Picture 3">
            <a:extLst>
              <a:ext uri="{FF2B5EF4-FFF2-40B4-BE49-F238E27FC236}">
                <a16:creationId xmlns:a16="http://schemas.microsoft.com/office/drawing/2014/main" id="{206445AD-653F-5DD0-9B31-8EDB82FA8BEA}"/>
              </a:ext>
            </a:extLst>
          </p:cNvPr>
          <p:cNvPicPr>
            <a:picLocks noChangeAspect="1"/>
          </p:cNvPicPr>
          <p:nvPr/>
        </p:nvPicPr>
        <p:blipFill>
          <a:blip r:embed="rId3"/>
          <a:stretch>
            <a:fillRect/>
          </a:stretch>
        </p:blipFill>
        <p:spPr>
          <a:xfrm>
            <a:off x="937329" y="879762"/>
            <a:ext cx="7068492" cy="4075192"/>
          </a:xfrm>
          <a:prstGeom prst="rect">
            <a:avLst/>
          </a:prstGeom>
          <a:ln w="19050">
            <a:solidFill>
              <a:schemeClr val="accent6"/>
            </a:solid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0">
          <a:extLst>
            <a:ext uri="{FF2B5EF4-FFF2-40B4-BE49-F238E27FC236}">
              <a16:creationId xmlns:a16="http://schemas.microsoft.com/office/drawing/2014/main" id="{1A3427FD-C96C-242A-C274-38B6BEC13A19}"/>
            </a:ext>
          </a:extLst>
        </p:cNvPr>
        <p:cNvGrpSpPr/>
        <p:nvPr/>
      </p:nvGrpSpPr>
      <p:grpSpPr>
        <a:xfrm>
          <a:off x="0" y="0"/>
          <a:ext cx="0" cy="0"/>
          <a:chOff x="0" y="0"/>
          <a:chExt cx="0" cy="0"/>
        </a:xfrm>
      </p:grpSpPr>
      <p:sp>
        <p:nvSpPr>
          <p:cNvPr id="91" name="Google Shape;91;p18">
            <a:extLst>
              <a:ext uri="{FF2B5EF4-FFF2-40B4-BE49-F238E27FC236}">
                <a16:creationId xmlns:a16="http://schemas.microsoft.com/office/drawing/2014/main" id="{627E143C-CE6A-7969-826A-1EC337B0675B}"/>
              </a:ext>
            </a:extLst>
          </p:cNvPr>
          <p:cNvSpPr txBox="1">
            <a:spLocks noGrp="1"/>
          </p:cNvSpPr>
          <p:nvPr>
            <p:ph type="title"/>
          </p:nvPr>
        </p:nvSpPr>
        <p:spPr>
          <a:xfrm>
            <a:off x="311700" y="98662"/>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Fuselage</a:t>
            </a:r>
            <a:endParaRPr dirty="0"/>
          </a:p>
        </p:txBody>
      </p:sp>
      <p:pic>
        <p:nvPicPr>
          <p:cNvPr id="4" name="Picture 3">
            <a:extLst>
              <a:ext uri="{FF2B5EF4-FFF2-40B4-BE49-F238E27FC236}">
                <a16:creationId xmlns:a16="http://schemas.microsoft.com/office/drawing/2014/main" id="{55F98162-8053-657F-3948-F92C17A2829A}"/>
              </a:ext>
            </a:extLst>
          </p:cNvPr>
          <p:cNvPicPr>
            <a:picLocks noChangeAspect="1"/>
          </p:cNvPicPr>
          <p:nvPr/>
        </p:nvPicPr>
        <p:blipFill>
          <a:blip r:embed="rId3"/>
          <a:stretch>
            <a:fillRect/>
          </a:stretch>
        </p:blipFill>
        <p:spPr>
          <a:xfrm>
            <a:off x="937329" y="879762"/>
            <a:ext cx="7068492" cy="4075192"/>
          </a:xfrm>
          <a:prstGeom prst="rect">
            <a:avLst/>
          </a:prstGeom>
          <a:ln w="19050">
            <a:solidFill>
              <a:schemeClr val="accent6"/>
            </a:solidFill>
          </a:ln>
        </p:spPr>
      </p:pic>
      <p:pic>
        <p:nvPicPr>
          <p:cNvPr id="3" name="Picture 2">
            <a:extLst>
              <a:ext uri="{FF2B5EF4-FFF2-40B4-BE49-F238E27FC236}">
                <a16:creationId xmlns:a16="http://schemas.microsoft.com/office/drawing/2014/main" id="{0F6730DF-C566-D4AE-81B8-53E26837C68A}"/>
              </a:ext>
            </a:extLst>
          </p:cNvPr>
          <p:cNvPicPr>
            <a:picLocks noChangeAspect="1"/>
          </p:cNvPicPr>
          <p:nvPr/>
        </p:nvPicPr>
        <p:blipFill>
          <a:blip r:embed="rId4"/>
          <a:stretch>
            <a:fillRect/>
          </a:stretch>
        </p:blipFill>
        <p:spPr>
          <a:xfrm>
            <a:off x="937329" y="879762"/>
            <a:ext cx="7071290" cy="4075192"/>
          </a:xfrm>
          <a:prstGeom prst="rect">
            <a:avLst/>
          </a:prstGeom>
        </p:spPr>
      </p:pic>
    </p:spTree>
    <p:extLst>
      <p:ext uri="{BB962C8B-B14F-4D97-AF65-F5344CB8AC3E}">
        <p14:creationId xmlns:p14="http://schemas.microsoft.com/office/powerpoint/2010/main" val="29568409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0">
          <a:extLst>
            <a:ext uri="{FF2B5EF4-FFF2-40B4-BE49-F238E27FC236}">
              <a16:creationId xmlns:a16="http://schemas.microsoft.com/office/drawing/2014/main" id="{7F7D0042-2407-39FD-07F8-AECBAB7156B2}"/>
            </a:ext>
          </a:extLst>
        </p:cNvPr>
        <p:cNvGrpSpPr/>
        <p:nvPr/>
      </p:nvGrpSpPr>
      <p:grpSpPr>
        <a:xfrm>
          <a:off x="0" y="0"/>
          <a:ext cx="0" cy="0"/>
          <a:chOff x="0" y="0"/>
          <a:chExt cx="0" cy="0"/>
        </a:xfrm>
      </p:grpSpPr>
      <p:sp>
        <p:nvSpPr>
          <p:cNvPr id="91" name="Google Shape;91;p18">
            <a:extLst>
              <a:ext uri="{FF2B5EF4-FFF2-40B4-BE49-F238E27FC236}">
                <a16:creationId xmlns:a16="http://schemas.microsoft.com/office/drawing/2014/main" id="{21B17C72-CCCF-9FA2-8C57-3F5C94152607}"/>
              </a:ext>
            </a:extLst>
          </p:cNvPr>
          <p:cNvSpPr txBox="1">
            <a:spLocks noGrp="1"/>
          </p:cNvSpPr>
          <p:nvPr>
            <p:ph type="title"/>
          </p:nvPr>
        </p:nvSpPr>
        <p:spPr>
          <a:xfrm>
            <a:off x="311700" y="98662"/>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Fuselage</a:t>
            </a:r>
            <a:endParaRPr dirty="0"/>
          </a:p>
        </p:txBody>
      </p:sp>
      <p:pic>
        <p:nvPicPr>
          <p:cNvPr id="3" name="Picture 2">
            <a:extLst>
              <a:ext uri="{FF2B5EF4-FFF2-40B4-BE49-F238E27FC236}">
                <a16:creationId xmlns:a16="http://schemas.microsoft.com/office/drawing/2014/main" id="{02E6AB01-A19D-17D2-1E4C-A0080F1F97E7}"/>
              </a:ext>
            </a:extLst>
          </p:cNvPr>
          <p:cNvPicPr>
            <a:picLocks noChangeAspect="1"/>
          </p:cNvPicPr>
          <p:nvPr/>
        </p:nvPicPr>
        <p:blipFill>
          <a:blip r:embed="rId3"/>
          <a:stretch>
            <a:fillRect/>
          </a:stretch>
        </p:blipFill>
        <p:spPr>
          <a:xfrm>
            <a:off x="937329" y="879762"/>
            <a:ext cx="7071290" cy="4075192"/>
          </a:xfrm>
          <a:prstGeom prst="rect">
            <a:avLst/>
          </a:prstGeom>
        </p:spPr>
      </p:pic>
      <p:pic>
        <p:nvPicPr>
          <p:cNvPr id="7" name="Picture 6">
            <a:extLst>
              <a:ext uri="{FF2B5EF4-FFF2-40B4-BE49-F238E27FC236}">
                <a16:creationId xmlns:a16="http://schemas.microsoft.com/office/drawing/2014/main" id="{2457E620-1153-D436-FD7B-BF91DC31DF75}"/>
              </a:ext>
            </a:extLst>
          </p:cNvPr>
          <p:cNvPicPr>
            <a:picLocks noChangeAspect="1"/>
          </p:cNvPicPr>
          <p:nvPr/>
        </p:nvPicPr>
        <p:blipFill>
          <a:blip r:embed="rId4"/>
          <a:srcRect l="656" t="317" b="-1"/>
          <a:stretch>
            <a:fillRect/>
          </a:stretch>
        </p:blipFill>
        <p:spPr>
          <a:xfrm>
            <a:off x="983673" y="892700"/>
            <a:ext cx="7022148" cy="4075192"/>
          </a:xfrm>
          <a:prstGeom prst="rect">
            <a:avLst/>
          </a:prstGeom>
          <a:ln w="19050">
            <a:solidFill>
              <a:schemeClr val="accent6"/>
            </a:solidFill>
          </a:ln>
        </p:spPr>
      </p:pic>
    </p:spTree>
    <p:extLst>
      <p:ext uri="{BB962C8B-B14F-4D97-AF65-F5344CB8AC3E}">
        <p14:creationId xmlns:p14="http://schemas.microsoft.com/office/powerpoint/2010/main" val="12956173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8"/>
        <p:cNvGrpSpPr/>
        <p:nvPr/>
      </p:nvGrpSpPr>
      <p:grpSpPr>
        <a:xfrm>
          <a:off x="0" y="0"/>
          <a:ext cx="0" cy="0"/>
          <a:chOff x="0" y="0"/>
          <a:chExt cx="0" cy="0"/>
        </a:xfrm>
      </p:grpSpPr>
      <p:sp>
        <p:nvSpPr>
          <p:cNvPr id="99" name="Google Shape;99;p19"/>
          <p:cNvSpPr txBox="1">
            <a:spLocks noGrp="1"/>
          </p:cNvSpPr>
          <p:nvPr>
            <p:ph type="title"/>
          </p:nvPr>
        </p:nvSpPr>
        <p:spPr>
          <a:xfrm>
            <a:off x="311700" y="11889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Powertrain</a:t>
            </a:r>
            <a:endParaRPr dirty="0"/>
          </a:p>
        </p:txBody>
      </p:sp>
      <p:pic>
        <p:nvPicPr>
          <p:cNvPr id="2" name="Picture 1">
            <a:extLst>
              <a:ext uri="{FF2B5EF4-FFF2-40B4-BE49-F238E27FC236}">
                <a16:creationId xmlns:a16="http://schemas.microsoft.com/office/drawing/2014/main" id="{B6B17B7A-4BF0-E4DF-B0F3-BDB81DA46EAB}"/>
              </a:ext>
            </a:extLst>
          </p:cNvPr>
          <p:cNvPicPr>
            <a:picLocks noChangeAspect="1"/>
          </p:cNvPicPr>
          <p:nvPr/>
        </p:nvPicPr>
        <p:blipFill>
          <a:blip r:embed="rId3"/>
          <a:stretch>
            <a:fillRect/>
          </a:stretch>
        </p:blipFill>
        <p:spPr>
          <a:xfrm>
            <a:off x="902692" y="879762"/>
            <a:ext cx="7061688" cy="4075193"/>
          </a:xfrm>
          <a:prstGeom prst="rect">
            <a:avLst/>
          </a:prstGeom>
          <a:ln w="19050">
            <a:solidFill>
              <a:schemeClr val="accent6"/>
            </a:solidFill>
          </a:ln>
        </p:spPr>
      </p:pic>
      <p:pic>
        <p:nvPicPr>
          <p:cNvPr id="5" name="Picture 4">
            <a:extLst>
              <a:ext uri="{FF2B5EF4-FFF2-40B4-BE49-F238E27FC236}">
                <a16:creationId xmlns:a16="http://schemas.microsoft.com/office/drawing/2014/main" id="{A2EED072-D2AA-46C0-F77E-89B7459C1C0F}"/>
              </a:ext>
            </a:extLst>
          </p:cNvPr>
          <p:cNvPicPr>
            <a:picLocks noChangeAspect="1"/>
          </p:cNvPicPr>
          <p:nvPr/>
        </p:nvPicPr>
        <p:blipFill>
          <a:blip r:embed="rId4"/>
          <a:stretch>
            <a:fillRect/>
          </a:stretch>
        </p:blipFill>
        <p:spPr>
          <a:xfrm>
            <a:off x="902692" y="879762"/>
            <a:ext cx="7066637" cy="407519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8">
          <a:extLst>
            <a:ext uri="{FF2B5EF4-FFF2-40B4-BE49-F238E27FC236}">
              <a16:creationId xmlns:a16="http://schemas.microsoft.com/office/drawing/2014/main" id="{4584C7E5-5739-5C21-5CC1-90BBDDB73DC7}"/>
            </a:ext>
          </a:extLst>
        </p:cNvPr>
        <p:cNvGrpSpPr/>
        <p:nvPr/>
      </p:nvGrpSpPr>
      <p:grpSpPr>
        <a:xfrm>
          <a:off x="0" y="0"/>
          <a:ext cx="0" cy="0"/>
          <a:chOff x="0" y="0"/>
          <a:chExt cx="0" cy="0"/>
        </a:xfrm>
      </p:grpSpPr>
      <p:sp>
        <p:nvSpPr>
          <p:cNvPr id="99" name="Google Shape;99;p19">
            <a:extLst>
              <a:ext uri="{FF2B5EF4-FFF2-40B4-BE49-F238E27FC236}">
                <a16:creationId xmlns:a16="http://schemas.microsoft.com/office/drawing/2014/main" id="{55A7E663-F9B6-9CBE-6C79-BE797971D664}"/>
              </a:ext>
            </a:extLst>
          </p:cNvPr>
          <p:cNvSpPr txBox="1">
            <a:spLocks noGrp="1"/>
          </p:cNvSpPr>
          <p:nvPr>
            <p:ph type="title"/>
          </p:nvPr>
        </p:nvSpPr>
        <p:spPr>
          <a:xfrm>
            <a:off x="311700" y="11889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Powertrain</a:t>
            </a:r>
            <a:endParaRPr dirty="0"/>
          </a:p>
        </p:txBody>
      </p:sp>
      <p:pic>
        <p:nvPicPr>
          <p:cNvPr id="4" name="Picture 3">
            <a:extLst>
              <a:ext uri="{FF2B5EF4-FFF2-40B4-BE49-F238E27FC236}">
                <a16:creationId xmlns:a16="http://schemas.microsoft.com/office/drawing/2014/main" id="{38827C99-FB4D-F0CC-75A3-9137ADD4CED1}"/>
              </a:ext>
            </a:extLst>
          </p:cNvPr>
          <p:cNvPicPr>
            <a:picLocks noChangeAspect="1"/>
          </p:cNvPicPr>
          <p:nvPr/>
        </p:nvPicPr>
        <p:blipFill>
          <a:blip r:embed="rId3"/>
          <a:srcRect l="264" t="509" r="365" b="1034"/>
          <a:stretch>
            <a:fillRect/>
          </a:stretch>
        </p:blipFill>
        <p:spPr>
          <a:xfrm>
            <a:off x="969818" y="907473"/>
            <a:ext cx="7017327" cy="4024745"/>
          </a:xfrm>
          <a:prstGeom prst="rect">
            <a:avLst/>
          </a:prstGeom>
          <a:ln w="19050">
            <a:solidFill>
              <a:schemeClr val="accent6"/>
            </a:solidFill>
          </a:ln>
        </p:spPr>
      </p:pic>
    </p:spTree>
    <p:extLst>
      <p:ext uri="{BB962C8B-B14F-4D97-AF65-F5344CB8AC3E}">
        <p14:creationId xmlns:p14="http://schemas.microsoft.com/office/powerpoint/2010/main" val="17125755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5"/>
        <p:cNvGrpSpPr/>
        <p:nvPr/>
      </p:nvGrpSpPr>
      <p:grpSpPr>
        <a:xfrm>
          <a:off x="0" y="0"/>
          <a:ext cx="0" cy="0"/>
          <a:chOff x="0" y="0"/>
          <a:chExt cx="0" cy="0"/>
        </a:xfrm>
      </p:grpSpPr>
      <p:sp>
        <p:nvSpPr>
          <p:cNvPr id="106" name="Google Shape;106;p20"/>
          <p:cNvSpPr txBox="1">
            <a:spLocks noGrp="1"/>
          </p:cNvSpPr>
          <p:nvPr>
            <p:ph type="title"/>
          </p:nvPr>
        </p:nvSpPr>
        <p:spPr>
          <a:xfrm>
            <a:off x="311700" y="11889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Control Surfaces</a:t>
            </a:r>
            <a:endParaRPr dirty="0"/>
          </a:p>
        </p:txBody>
      </p:sp>
      <p:pic>
        <p:nvPicPr>
          <p:cNvPr id="4" name="Picture 3">
            <a:extLst>
              <a:ext uri="{FF2B5EF4-FFF2-40B4-BE49-F238E27FC236}">
                <a16:creationId xmlns:a16="http://schemas.microsoft.com/office/drawing/2014/main" id="{F898FC20-9AF0-5C7A-16F8-3FDB8BE944F5}"/>
              </a:ext>
            </a:extLst>
          </p:cNvPr>
          <p:cNvPicPr>
            <a:picLocks noChangeAspect="1"/>
          </p:cNvPicPr>
          <p:nvPr/>
        </p:nvPicPr>
        <p:blipFill>
          <a:blip r:embed="rId3"/>
          <a:srcRect l="1" t="1581" r="268"/>
          <a:stretch>
            <a:fillRect/>
          </a:stretch>
        </p:blipFill>
        <p:spPr>
          <a:xfrm>
            <a:off x="244601" y="691594"/>
            <a:ext cx="7728690" cy="4405875"/>
          </a:xfrm>
          <a:prstGeom prst="rect">
            <a:avLst/>
          </a:prstGeom>
          <a:ln w="19050">
            <a:solidFill>
              <a:schemeClr val="accent6"/>
            </a:solidFill>
          </a:ln>
        </p:spPr>
      </p:pic>
      <p:sp>
        <p:nvSpPr>
          <p:cNvPr id="2" name="Rectangle 1">
            <a:extLst>
              <a:ext uri="{FF2B5EF4-FFF2-40B4-BE49-F238E27FC236}">
                <a16:creationId xmlns:a16="http://schemas.microsoft.com/office/drawing/2014/main" id="{29AB7400-5368-8B48-33EE-1303098B6297}"/>
              </a:ext>
            </a:extLst>
          </p:cNvPr>
          <p:cNvSpPr/>
          <p:nvPr/>
        </p:nvSpPr>
        <p:spPr>
          <a:xfrm>
            <a:off x="6819900" y="3351213"/>
            <a:ext cx="114300" cy="603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B1E9887-A3FF-F990-D277-39C9B89EA910}"/>
              </a:ext>
            </a:extLst>
          </p:cNvPr>
          <p:cNvSpPr txBox="1"/>
          <p:nvPr/>
        </p:nvSpPr>
        <p:spPr>
          <a:xfrm>
            <a:off x="6764338" y="3304431"/>
            <a:ext cx="279400" cy="153888"/>
          </a:xfrm>
          <a:prstGeom prst="rect">
            <a:avLst/>
          </a:prstGeom>
          <a:noFill/>
        </p:spPr>
        <p:txBody>
          <a:bodyPr wrap="square" rtlCol="0">
            <a:spAutoFit/>
          </a:bodyPr>
          <a:lstStyle/>
          <a:p>
            <a:r>
              <a:rPr lang="en-US" sz="400" dirty="0"/>
              <a:t>400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1"/>
        <p:cNvGrpSpPr/>
        <p:nvPr/>
      </p:nvGrpSpPr>
      <p:grpSpPr>
        <a:xfrm>
          <a:off x="0" y="0"/>
          <a:ext cx="0" cy="0"/>
          <a:chOff x="0" y="0"/>
          <a:chExt cx="0" cy="0"/>
        </a:xfrm>
      </p:grpSpPr>
      <p:sp>
        <p:nvSpPr>
          <p:cNvPr id="112" name="Google Shape;112;p21"/>
          <p:cNvSpPr txBox="1">
            <a:spLocks noGrp="1"/>
          </p:cNvSpPr>
          <p:nvPr>
            <p:ph type="title"/>
          </p:nvPr>
        </p:nvSpPr>
        <p:spPr>
          <a:xfrm>
            <a:off x="311699" y="1586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Empennage (</a:t>
            </a:r>
            <a:r>
              <a:rPr lang="en-US" dirty="0"/>
              <a:t>Horizontal)</a:t>
            </a:r>
            <a:endParaRPr dirty="0"/>
          </a:p>
        </p:txBody>
      </p:sp>
      <p:pic>
        <p:nvPicPr>
          <p:cNvPr id="6" name="Picture 5">
            <a:extLst>
              <a:ext uri="{FF2B5EF4-FFF2-40B4-BE49-F238E27FC236}">
                <a16:creationId xmlns:a16="http://schemas.microsoft.com/office/drawing/2014/main" id="{EBB370C2-5FA8-250B-C126-ABD68C3FFA3E}"/>
              </a:ext>
            </a:extLst>
          </p:cNvPr>
          <p:cNvPicPr>
            <a:picLocks noChangeAspect="1"/>
          </p:cNvPicPr>
          <p:nvPr/>
        </p:nvPicPr>
        <p:blipFill>
          <a:blip r:embed="rId3"/>
          <a:stretch>
            <a:fillRect/>
          </a:stretch>
        </p:blipFill>
        <p:spPr>
          <a:xfrm>
            <a:off x="902692" y="879762"/>
            <a:ext cx="7061688" cy="4075193"/>
          </a:xfrm>
          <a:prstGeom prst="rect">
            <a:avLst/>
          </a:prstGeom>
          <a:ln w="19050">
            <a:solidFill>
              <a:schemeClr val="accent6"/>
            </a:solid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1">
          <a:extLst>
            <a:ext uri="{FF2B5EF4-FFF2-40B4-BE49-F238E27FC236}">
              <a16:creationId xmlns:a16="http://schemas.microsoft.com/office/drawing/2014/main" id="{D3672C28-0664-D706-F620-465D66BDEA5A}"/>
            </a:ext>
          </a:extLst>
        </p:cNvPr>
        <p:cNvGrpSpPr/>
        <p:nvPr/>
      </p:nvGrpSpPr>
      <p:grpSpPr>
        <a:xfrm>
          <a:off x="0" y="0"/>
          <a:ext cx="0" cy="0"/>
          <a:chOff x="0" y="0"/>
          <a:chExt cx="0" cy="0"/>
        </a:xfrm>
      </p:grpSpPr>
      <p:sp>
        <p:nvSpPr>
          <p:cNvPr id="112" name="Google Shape;112;p21">
            <a:extLst>
              <a:ext uri="{FF2B5EF4-FFF2-40B4-BE49-F238E27FC236}">
                <a16:creationId xmlns:a16="http://schemas.microsoft.com/office/drawing/2014/main" id="{7B2AB54B-9D34-0D13-E3C3-2E9EDC6E8623}"/>
              </a:ext>
            </a:extLst>
          </p:cNvPr>
          <p:cNvSpPr txBox="1">
            <a:spLocks noGrp="1"/>
          </p:cNvSpPr>
          <p:nvPr>
            <p:ph type="title"/>
          </p:nvPr>
        </p:nvSpPr>
        <p:spPr>
          <a:xfrm>
            <a:off x="311699" y="1586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Empennage (</a:t>
            </a:r>
            <a:r>
              <a:rPr lang="en-US" dirty="0"/>
              <a:t>Vertical)</a:t>
            </a:r>
            <a:endParaRPr dirty="0"/>
          </a:p>
        </p:txBody>
      </p:sp>
      <p:pic>
        <p:nvPicPr>
          <p:cNvPr id="6" name="Picture 5">
            <a:extLst>
              <a:ext uri="{FF2B5EF4-FFF2-40B4-BE49-F238E27FC236}">
                <a16:creationId xmlns:a16="http://schemas.microsoft.com/office/drawing/2014/main" id="{152D872C-3585-B3D0-EB34-7BA74D1646BA}"/>
              </a:ext>
            </a:extLst>
          </p:cNvPr>
          <p:cNvPicPr>
            <a:picLocks noChangeAspect="1"/>
          </p:cNvPicPr>
          <p:nvPr/>
        </p:nvPicPr>
        <p:blipFill>
          <a:blip r:embed="rId3"/>
          <a:stretch>
            <a:fillRect/>
          </a:stretch>
        </p:blipFill>
        <p:spPr>
          <a:xfrm>
            <a:off x="902692" y="879762"/>
            <a:ext cx="7061688" cy="4075193"/>
          </a:xfrm>
          <a:prstGeom prst="rect">
            <a:avLst/>
          </a:prstGeom>
          <a:ln w="19050">
            <a:solidFill>
              <a:schemeClr val="accent6"/>
            </a:solidFill>
          </a:ln>
        </p:spPr>
      </p:pic>
      <p:pic>
        <p:nvPicPr>
          <p:cNvPr id="3" name="Picture 2">
            <a:extLst>
              <a:ext uri="{FF2B5EF4-FFF2-40B4-BE49-F238E27FC236}">
                <a16:creationId xmlns:a16="http://schemas.microsoft.com/office/drawing/2014/main" id="{EFD277ED-1896-42E7-BC83-3FB48A891989}"/>
              </a:ext>
            </a:extLst>
          </p:cNvPr>
          <p:cNvPicPr>
            <a:picLocks noChangeAspect="1"/>
          </p:cNvPicPr>
          <p:nvPr/>
        </p:nvPicPr>
        <p:blipFill>
          <a:blip r:embed="rId4"/>
          <a:stretch>
            <a:fillRect/>
          </a:stretch>
        </p:blipFill>
        <p:spPr>
          <a:xfrm>
            <a:off x="902691" y="879762"/>
            <a:ext cx="7061687" cy="4072718"/>
          </a:xfrm>
          <a:prstGeom prst="rect">
            <a:avLst/>
          </a:prstGeom>
        </p:spPr>
      </p:pic>
    </p:spTree>
    <p:extLst>
      <p:ext uri="{BB962C8B-B14F-4D97-AF65-F5344CB8AC3E}">
        <p14:creationId xmlns:p14="http://schemas.microsoft.com/office/powerpoint/2010/main" val="8446701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8"/>
        <p:cNvGrpSpPr/>
        <p:nvPr/>
      </p:nvGrpSpPr>
      <p:grpSpPr>
        <a:xfrm>
          <a:off x="0" y="0"/>
          <a:ext cx="0" cy="0"/>
          <a:chOff x="0" y="0"/>
          <a:chExt cx="0" cy="0"/>
        </a:xfrm>
      </p:grpSpPr>
      <p:sp>
        <p:nvSpPr>
          <p:cNvPr id="4" name="Google Shape;112;p21">
            <a:extLst>
              <a:ext uri="{FF2B5EF4-FFF2-40B4-BE49-F238E27FC236}">
                <a16:creationId xmlns:a16="http://schemas.microsoft.com/office/drawing/2014/main" id="{3A569D03-FE47-3FEE-5B45-3AAAB9B2015A}"/>
              </a:ext>
            </a:extLst>
          </p:cNvPr>
          <p:cNvSpPr txBox="1">
            <a:spLocks noGrp="1"/>
          </p:cNvSpPr>
          <p:nvPr>
            <p:ph type="title"/>
          </p:nvPr>
        </p:nvSpPr>
        <p:spPr>
          <a:xfrm>
            <a:off x="311699" y="1586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Internal Layout:</a:t>
            </a:r>
            <a:endParaRPr dirty="0"/>
          </a:p>
        </p:txBody>
      </p:sp>
      <p:pic>
        <p:nvPicPr>
          <p:cNvPr id="8" name="Picture 7">
            <a:extLst>
              <a:ext uri="{FF2B5EF4-FFF2-40B4-BE49-F238E27FC236}">
                <a16:creationId xmlns:a16="http://schemas.microsoft.com/office/drawing/2014/main" id="{2BEDF082-309B-8AA5-2878-9BA07E104AB3}"/>
              </a:ext>
            </a:extLst>
          </p:cNvPr>
          <p:cNvPicPr>
            <a:picLocks noChangeAspect="1"/>
          </p:cNvPicPr>
          <p:nvPr/>
        </p:nvPicPr>
        <p:blipFill>
          <a:blip r:embed="rId3"/>
          <a:srcRect t="921"/>
          <a:stretch>
            <a:fillRect/>
          </a:stretch>
        </p:blipFill>
        <p:spPr>
          <a:xfrm>
            <a:off x="902692" y="879763"/>
            <a:ext cx="7061688" cy="4040671"/>
          </a:xfrm>
          <a:prstGeom prst="rect">
            <a:avLst/>
          </a:prstGeom>
          <a:ln w="19050">
            <a:solidFill>
              <a:schemeClr val="accent6"/>
            </a:solid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8">
          <a:extLst>
            <a:ext uri="{FF2B5EF4-FFF2-40B4-BE49-F238E27FC236}">
              <a16:creationId xmlns:a16="http://schemas.microsoft.com/office/drawing/2014/main" id="{6FE38002-1D46-B30E-5474-B70E55B42F1A}"/>
            </a:ext>
          </a:extLst>
        </p:cNvPr>
        <p:cNvGrpSpPr/>
        <p:nvPr/>
      </p:nvGrpSpPr>
      <p:grpSpPr>
        <a:xfrm>
          <a:off x="0" y="0"/>
          <a:ext cx="0" cy="0"/>
          <a:chOff x="0" y="0"/>
          <a:chExt cx="0" cy="0"/>
        </a:xfrm>
      </p:grpSpPr>
      <p:sp>
        <p:nvSpPr>
          <p:cNvPr id="4" name="Google Shape;112;p21">
            <a:extLst>
              <a:ext uri="{FF2B5EF4-FFF2-40B4-BE49-F238E27FC236}">
                <a16:creationId xmlns:a16="http://schemas.microsoft.com/office/drawing/2014/main" id="{217816B0-9DAE-60BD-D131-80005FE5DAEE}"/>
              </a:ext>
            </a:extLst>
          </p:cNvPr>
          <p:cNvSpPr txBox="1">
            <a:spLocks noGrp="1"/>
          </p:cNvSpPr>
          <p:nvPr>
            <p:ph type="title"/>
          </p:nvPr>
        </p:nvSpPr>
        <p:spPr>
          <a:xfrm>
            <a:off x="311699" y="1586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Air Superiority Mission Payload:</a:t>
            </a:r>
            <a:endParaRPr dirty="0"/>
          </a:p>
        </p:txBody>
      </p:sp>
      <p:pic>
        <p:nvPicPr>
          <p:cNvPr id="12" name="Picture 11">
            <a:extLst>
              <a:ext uri="{FF2B5EF4-FFF2-40B4-BE49-F238E27FC236}">
                <a16:creationId xmlns:a16="http://schemas.microsoft.com/office/drawing/2014/main" id="{666FBE70-881F-F1A1-3723-A6DC4B6EE8AA}"/>
              </a:ext>
            </a:extLst>
          </p:cNvPr>
          <p:cNvPicPr>
            <a:picLocks noChangeAspect="1"/>
          </p:cNvPicPr>
          <p:nvPr/>
        </p:nvPicPr>
        <p:blipFill>
          <a:blip r:embed="rId3"/>
          <a:stretch>
            <a:fillRect/>
          </a:stretch>
        </p:blipFill>
        <p:spPr>
          <a:xfrm>
            <a:off x="902692" y="842211"/>
            <a:ext cx="7053394" cy="4058726"/>
          </a:xfrm>
          <a:prstGeom prst="rect">
            <a:avLst/>
          </a:prstGeom>
          <a:ln w="19050">
            <a:solidFill>
              <a:schemeClr val="accent6"/>
            </a:solidFill>
          </a:ln>
        </p:spPr>
      </p:pic>
    </p:spTree>
    <p:extLst>
      <p:ext uri="{BB962C8B-B14F-4D97-AF65-F5344CB8AC3E}">
        <p14:creationId xmlns:p14="http://schemas.microsoft.com/office/powerpoint/2010/main" val="6820644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8">
          <a:extLst>
            <a:ext uri="{FF2B5EF4-FFF2-40B4-BE49-F238E27FC236}">
              <a16:creationId xmlns:a16="http://schemas.microsoft.com/office/drawing/2014/main" id="{74499127-F425-0C13-CC07-78D4DECB37AD}"/>
            </a:ext>
          </a:extLst>
        </p:cNvPr>
        <p:cNvGrpSpPr/>
        <p:nvPr/>
      </p:nvGrpSpPr>
      <p:grpSpPr>
        <a:xfrm>
          <a:off x="0" y="0"/>
          <a:ext cx="0" cy="0"/>
          <a:chOff x="0" y="0"/>
          <a:chExt cx="0" cy="0"/>
        </a:xfrm>
      </p:grpSpPr>
      <p:sp>
        <p:nvSpPr>
          <p:cNvPr id="4" name="Google Shape;112;p21">
            <a:extLst>
              <a:ext uri="{FF2B5EF4-FFF2-40B4-BE49-F238E27FC236}">
                <a16:creationId xmlns:a16="http://schemas.microsoft.com/office/drawing/2014/main" id="{C59383AF-F574-BBE5-CA5E-D3230D4DD861}"/>
              </a:ext>
            </a:extLst>
          </p:cNvPr>
          <p:cNvSpPr txBox="1">
            <a:spLocks noGrp="1"/>
          </p:cNvSpPr>
          <p:nvPr>
            <p:ph type="title"/>
          </p:nvPr>
        </p:nvSpPr>
        <p:spPr>
          <a:xfrm>
            <a:off x="311699" y="1586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Strike Mission Payload:</a:t>
            </a:r>
            <a:endParaRPr dirty="0"/>
          </a:p>
        </p:txBody>
      </p:sp>
      <p:pic>
        <p:nvPicPr>
          <p:cNvPr id="11" name="Picture 10">
            <a:extLst>
              <a:ext uri="{FF2B5EF4-FFF2-40B4-BE49-F238E27FC236}">
                <a16:creationId xmlns:a16="http://schemas.microsoft.com/office/drawing/2014/main" id="{34CE9C3E-8E6B-3C67-1231-F15101921CBD}"/>
              </a:ext>
            </a:extLst>
          </p:cNvPr>
          <p:cNvPicPr>
            <a:picLocks noChangeAspect="1"/>
          </p:cNvPicPr>
          <p:nvPr/>
        </p:nvPicPr>
        <p:blipFill>
          <a:blip r:embed="rId3"/>
          <a:stretch>
            <a:fillRect/>
          </a:stretch>
        </p:blipFill>
        <p:spPr>
          <a:xfrm>
            <a:off x="902692" y="842211"/>
            <a:ext cx="7033813" cy="4058727"/>
          </a:xfrm>
          <a:prstGeom prst="rect">
            <a:avLst/>
          </a:prstGeom>
          <a:ln w="19050">
            <a:solidFill>
              <a:schemeClr val="accent6"/>
            </a:solidFill>
          </a:ln>
        </p:spPr>
      </p:pic>
    </p:spTree>
    <p:extLst>
      <p:ext uri="{BB962C8B-B14F-4D97-AF65-F5344CB8AC3E}">
        <p14:creationId xmlns:p14="http://schemas.microsoft.com/office/powerpoint/2010/main" val="13552656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2"/>
        <p:cNvGrpSpPr/>
        <p:nvPr/>
      </p:nvGrpSpPr>
      <p:grpSpPr>
        <a:xfrm>
          <a:off x="0" y="0"/>
          <a:ext cx="0" cy="0"/>
          <a:chOff x="0" y="0"/>
          <a:chExt cx="0" cy="0"/>
        </a:xfrm>
      </p:grpSpPr>
      <p:sp>
        <p:nvSpPr>
          <p:cNvPr id="7" name="Google Shape;112;p21">
            <a:extLst>
              <a:ext uri="{FF2B5EF4-FFF2-40B4-BE49-F238E27FC236}">
                <a16:creationId xmlns:a16="http://schemas.microsoft.com/office/drawing/2014/main" id="{1B77FA06-E804-68CE-CE64-F8CDE2450202}"/>
              </a:ext>
            </a:extLst>
          </p:cNvPr>
          <p:cNvSpPr txBox="1">
            <a:spLocks noGrp="1"/>
          </p:cNvSpPr>
          <p:nvPr>
            <p:ph type="title"/>
          </p:nvPr>
        </p:nvSpPr>
        <p:spPr>
          <a:xfrm>
            <a:off x="311699" y="158675"/>
            <a:ext cx="8520600" cy="572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dirty="0"/>
              <a:t>Preliminary Sizing:</a:t>
            </a:r>
            <a:endParaRPr dirty="0"/>
          </a:p>
        </p:txBody>
      </p:sp>
      <p:pic>
        <p:nvPicPr>
          <p:cNvPr id="11" name="Graphic 10">
            <a:extLst>
              <a:ext uri="{FF2B5EF4-FFF2-40B4-BE49-F238E27FC236}">
                <a16:creationId xmlns:a16="http://schemas.microsoft.com/office/drawing/2014/main" id="{101062AB-F26E-39BC-2B8B-2C4AA2703078}"/>
              </a:ext>
            </a:extLst>
          </p:cNvPr>
          <p:cNvPicPr>
            <a:picLocks noChangeAspect="1"/>
          </p:cNvPicPr>
          <p:nvPr/>
        </p:nvPicPr>
        <p:blipFill>
          <a:blip r:embed="rId3">
            <a:extLst>
              <a:ext uri="{96DAC541-7B7A-43D3-8B79-37D633B846F1}">
                <asvg:svgBlip xmlns:asvg="http://schemas.microsoft.com/office/drawing/2016/SVG/main" r:embed="rId4"/>
              </a:ext>
            </a:extLst>
          </a:blip>
          <a:srcRect l="7431" t="7834" r="8734" b="3845"/>
          <a:stretch>
            <a:fillRect/>
          </a:stretch>
        </p:blipFill>
        <p:spPr>
          <a:xfrm>
            <a:off x="568035" y="731375"/>
            <a:ext cx="7329056" cy="4343145"/>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2">
          <a:extLst>
            <a:ext uri="{FF2B5EF4-FFF2-40B4-BE49-F238E27FC236}">
              <a16:creationId xmlns:a16="http://schemas.microsoft.com/office/drawing/2014/main" id="{971C0C83-E725-133B-5708-839C890DA2B3}"/>
            </a:ext>
          </a:extLst>
        </p:cNvPr>
        <p:cNvGrpSpPr/>
        <p:nvPr/>
      </p:nvGrpSpPr>
      <p:grpSpPr>
        <a:xfrm>
          <a:off x="0" y="0"/>
          <a:ext cx="0" cy="0"/>
          <a:chOff x="0" y="0"/>
          <a:chExt cx="0" cy="0"/>
        </a:xfrm>
      </p:grpSpPr>
      <p:sp>
        <p:nvSpPr>
          <p:cNvPr id="7" name="Google Shape;112;p21">
            <a:extLst>
              <a:ext uri="{FF2B5EF4-FFF2-40B4-BE49-F238E27FC236}">
                <a16:creationId xmlns:a16="http://schemas.microsoft.com/office/drawing/2014/main" id="{24C2A7B0-3CDA-C0BA-11A3-2D5C1B82E53E}"/>
              </a:ext>
            </a:extLst>
          </p:cNvPr>
          <p:cNvSpPr txBox="1">
            <a:spLocks noGrp="1"/>
          </p:cNvSpPr>
          <p:nvPr>
            <p:ph type="title"/>
          </p:nvPr>
        </p:nvSpPr>
        <p:spPr>
          <a:xfrm>
            <a:off x="311699" y="158675"/>
            <a:ext cx="8520600" cy="572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dirty="0"/>
              <a:t>Preliminary Sizing:</a:t>
            </a:r>
            <a:endParaRPr dirty="0"/>
          </a:p>
        </p:txBody>
      </p:sp>
      <p:pic>
        <p:nvPicPr>
          <p:cNvPr id="2" name="Graphic 1">
            <a:extLst>
              <a:ext uri="{FF2B5EF4-FFF2-40B4-BE49-F238E27FC236}">
                <a16:creationId xmlns:a16="http://schemas.microsoft.com/office/drawing/2014/main" id="{661BCEFE-BDA0-541F-50A5-F7161D6674F7}"/>
              </a:ext>
            </a:extLst>
          </p:cNvPr>
          <p:cNvPicPr>
            <a:picLocks noChangeAspect="1"/>
          </p:cNvPicPr>
          <p:nvPr/>
        </p:nvPicPr>
        <p:blipFill>
          <a:blip r:embed="rId3">
            <a:extLst>
              <a:ext uri="{96DAC541-7B7A-43D3-8B79-37D633B846F1}">
                <asvg:svgBlip xmlns:asvg="http://schemas.microsoft.com/office/drawing/2016/SVG/main" r:embed="rId4"/>
              </a:ext>
            </a:extLst>
          </a:blip>
          <a:srcRect l="7031" t="8622" r="8933" b="5729"/>
          <a:stretch>
            <a:fillRect/>
          </a:stretch>
        </p:blipFill>
        <p:spPr>
          <a:xfrm>
            <a:off x="311698" y="731374"/>
            <a:ext cx="7578465" cy="4344747"/>
          </a:xfrm>
          <a:prstGeom prst="rect">
            <a:avLst/>
          </a:prstGeom>
        </p:spPr>
      </p:pic>
    </p:spTree>
    <p:extLst>
      <p:ext uri="{BB962C8B-B14F-4D97-AF65-F5344CB8AC3E}">
        <p14:creationId xmlns:p14="http://schemas.microsoft.com/office/powerpoint/2010/main" val="4755059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5"/>
        <p:cNvGrpSpPr/>
        <p:nvPr/>
      </p:nvGrpSpPr>
      <p:grpSpPr>
        <a:xfrm>
          <a:off x="0" y="0"/>
          <a:ext cx="0" cy="0"/>
          <a:chOff x="0" y="0"/>
          <a:chExt cx="0" cy="0"/>
        </a:xfrm>
      </p:grpSpPr>
      <p:sp>
        <p:nvSpPr>
          <p:cNvPr id="8" name="Google Shape;112;p21">
            <a:extLst>
              <a:ext uri="{FF2B5EF4-FFF2-40B4-BE49-F238E27FC236}">
                <a16:creationId xmlns:a16="http://schemas.microsoft.com/office/drawing/2014/main" id="{E5DC7033-32C9-7E74-188F-94F90B4D2B9F}"/>
              </a:ext>
            </a:extLst>
          </p:cNvPr>
          <p:cNvSpPr txBox="1">
            <a:spLocks noGrp="1"/>
          </p:cNvSpPr>
          <p:nvPr>
            <p:ph type="title"/>
          </p:nvPr>
        </p:nvSpPr>
        <p:spPr>
          <a:xfrm>
            <a:off x="311699" y="1586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Drag Polar:</a:t>
            </a:r>
            <a:endParaRPr dirty="0"/>
          </a:p>
        </p:txBody>
      </p:sp>
      <p:pic>
        <p:nvPicPr>
          <p:cNvPr id="3" name="Picture 2">
            <a:extLst>
              <a:ext uri="{FF2B5EF4-FFF2-40B4-BE49-F238E27FC236}">
                <a16:creationId xmlns:a16="http://schemas.microsoft.com/office/drawing/2014/main" id="{E8D62854-E0C8-AC85-4E18-97D4450D9A8F}"/>
              </a:ext>
            </a:extLst>
          </p:cNvPr>
          <p:cNvPicPr>
            <a:picLocks noChangeAspect="1"/>
          </p:cNvPicPr>
          <p:nvPr/>
        </p:nvPicPr>
        <p:blipFill>
          <a:blip r:embed="rId3"/>
          <a:srcRect l="5789" t="8110" r="7895" b="2500"/>
          <a:stretch>
            <a:fillRect/>
          </a:stretch>
        </p:blipFill>
        <p:spPr>
          <a:xfrm>
            <a:off x="77002" y="731375"/>
            <a:ext cx="7892716" cy="392725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3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How our design meets RFP requirements</a:t>
            </a:r>
            <a:endParaRPr/>
          </a:p>
        </p:txBody>
      </p:sp>
      <p:sp>
        <p:nvSpPr>
          <p:cNvPr id="167" name="Google Shape;167;p30"/>
          <p:cNvSpPr txBox="1">
            <a:spLocks noGrp="1"/>
          </p:cNvSpPr>
          <p:nvPr>
            <p:ph type="body" idx="1"/>
          </p:nvPr>
        </p:nvSpPr>
        <p:spPr>
          <a:xfrm>
            <a:off x="311700" y="1152475"/>
            <a:ext cx="3900000" cy="3416400"/>
          </a:xfrm>
          <a:prstGeom prst="rect">
            <a:avLst/>
          </a:prstGeom>
        </p:spPr>
        <p:txBody>
          <a:bodyPr spcFirstLastPara="1" wrap="square" lIns="91425" tIns="91425" rIns="91425" bIns="91425" anchor="t" anchorCtr="0">
            <a:normAutofit fontScale="85000" lnSpcReduction="10000"/>
          </a:bodyPr>
          <a:lstStyle/>
          <a:p>
            <a:pPr marL="0" lvl="0" indent="0" algn="l" rtl="0">
              <a:spcBef>
                <a:spcPts val="0"/>
              </a:spcBef>
              <a:spcAft>
                <a:spcPts val="0"/>
              </a:spcAft>
              <a:buNone/>
            </a:pPr>
            <a:r>
              <a:rPr lang="en"/>
              <a:t>Single-engine configuration (F135 class) reduces acquisition and life-cycle cost compared to twin-engine aircraft</a:t>
            </a:r>
            <a:endParaRPr/>
          </a:p>
          <a:p>
            <a:pPr marL="0" lvl="0" indent="0" algn="l" rtl="0">
              <a:spcBef>
                <a:spcPts val="1200"/>
              </a:spcBef>
              <a:spcAft>
                <a:spcPts val="0"/>
              </a:spcAft>
              <a:buNone/>
            </a:pPr>
            <a:endParaRPr/>
          </a:p>
          <a:p>
            <a:pPr marL="0" lvl="0" indent="0" algn="l" rtl="0">
              <a:spcBef>
                <a:spcPts val="1200"/>
              </a:spcBef>
              <a:spcAft>
                <a:spcPts val="0"/>
              </a:spcAft>
              <a:buNone/>
            </a:pPr>
            <a:r>
              <a:rPr lang="en"/>
              <a:t>Higher thrust-to-weight ratio (~0.91) improves maneuverability and acceleration</a:t>
            </a:r>
            <a:endParaRPr/>
          </a:p>
          <a:p>
            <a:pPr marL="0" lvl="0" indent="0" algn="l" rtl="0">
              <a:spcBef>
                <a:spcPts val="1200"/>
              </a:spcBef>
              <a:spcAft>
                <a:spcPts val="0"/>
              </a:spcAft>
              <a:buNone/>
            </a:pPr>
            <a:endParaRPr/>
          </a:p>
          <a:p>
            <a:pPr marL="0" lvl="0" indent="0" algn="l" rtl="0">
              <a:spcBef>
                <a:spcPts val="1200"/>
              </a:spcBef>
              <a:spcAft>
                <a:spcPts val="0"/>
              </a:spcAft>
              <a:buNone/>
            </a:pPr>
            <a:r>
              <a:rPr lang="en"/>
              <a:t>Combat radius ≥ 700 nmi achievable through efficient aerodynamic configuration and fuel fraction sizing</a:t>
            </a:r>
            <a:endParaRPr/>
          </a:p>
          <a:p>
            <a:pPr marL="0" lvl="0" indent="0" algn="l" rtl="0">
              <a:spcBef>
                <a:spcPts val="1200"/>
              </a:spcBef>
              <a:spcAft>
                <a:spcPts val="1200"/>
              </a:spcAft>
              <a:buNone/>
            </a:pPr>
            <a:endParaRPr/>
          </a:p>
        </p:txBody>
      </p:sp>
      <p:sp>
        <p:nvSpPr>
          <p:cNvPr id="168" name="Google Shape;168;p30"/>
          <p:cNvSpPr txBox="1"/>
          <p:nvPr/>
        </p:nvSpPr>
        <p:spPr>
          <a:xfrm>
            <a:off x="4343725" y="1152475"/>
            <a:ext cx="4189800" cy="3416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500">
                <a:solidFill>
                  <a:schemeClr val="accent3"/>
                </a:solidFill>
                <a:latin typeface="Average"/>
                <a:ea typeface="Average"/>
                <a:cs typeface="Average"/>
                <a:sym typeface="Average"/>
              </a:rPr>
              <a:t>Sustained turn performance ≥ 8 deg/s meets maneuverability requirements</a:t>
            </a:r>
            <a:endParaRPr sz="1500">
              <a:solidFill>
                <a:schemeClr val="accent3"/>
              </a:solidFill>
              <a:latin typeface="Average"/>
              <a:ea typeface="Average"/>
              <a:cs typeface="Average"/>
              <a:sym typeface="Average"/>
            </a:endParaRPr>
          </a:p>
          <a:p>
            <a:pPr marL="0" lvl="0" indent="0" algn="l" rtl="0">
              <a:lnSpc>
                <a:spcPct val="115000"/>
              </a:lnSpc>
              <a:spcBef>
                <a:spcPts val="1200"/>
              </a:spcBef>
              <a:spcAft>
                <a:spcPts val="0"/>
              </a:spcAft>
              <a:buNone/>
            </a:pPr>
            <a:endParaRPr sz="1500">
              <a:solidFill>
                <a:schemeClr val="accent3"/>
              </a:solidFill>
              <a:latin typeface="Average"/>
              <a:ea typeface="Average"/>
              <a:cs typeface="Average"/>
              <a:sym typeface="Average"/>
            </a:endParaRPr>
          </a:p>
          <a:p>
            <a:pPr marL="0" lvl="0" indent="0" algn="l" rtl="0">
              <a:lnSpc>
                <a:spcPct val="115000"/>
              </a:lnSpc>
              <a:spcBef>
                <a:spcPts val="1200"/>
              </a:spcBef>
              <a:spcAft>
                <a:spcPts val="0"/>
              </a:spcAft>
              <a:buNone/>
            </a:pPr>
            <a:r>
              <a:rPr lang="en" sz="1500">
                <a:solidFill>
                  <a:schemeClr val="accent3"/>
                </a:solidFill>
                <a:latin typeface="Average"/>
                <a:ea typeface="Average"/>
                <a:cs typeface="Average"/>
                <a:sym typeface="Average"/>
              </a:rPr>
              <a:t>Carrier compatible geometry that satisfies both carriers (CVN-68 / CVN-78 ) operations</a:t>
            </a:r>
            <a:endParaRPr sz="1500">
              <a:solidFill>
                <a:schemeClr val="accent3"/>
              </a:solidFill>
              <a:latin typeface="Average"/>
              <a:ea typeface="Average"/>
              <a:cs typeface="Average"/>
              <a:sym typeface="Average"/>
            </a:endParaRPr>
          </a:p>
          <a:p>
            <a:pPr marL="0" lvl="0" indent="0" algn="l" rtl="0">
              <a:lnSpc>
                <a:spcPct val="115000"/>
              </a:lnSpc>
              <a:spcBef>
                <a:spcPts val="1200"/>
              </a:spcBef>
              <a:spcAft>
                <a:spcPts val="0"/>
              </a:spcAft>
              <a:buNone/>
            </a:pPr>
            <a:endParaRPr sz="1500">
              <a:solidFill>
                <a:schemeClr val="accent3"/>
              </a:solidFill>
              <a:latin typeface="Average"/>
              <a:ea typeface="Average"/>
              <a:cs typeface="Average"/>
              <a:sym typeface="Average"/>
            </a:endParaRPr>
          </a:p>
          <a:p>
            <a:pPr marL="0" lvl="0" indent="0" algn="l" rtl="0">
              <a:lnSpc>
                <a:spcPct val="115000"/>
              </a:lnSpc>
              <a:spcBef>
                <a:spcPts val="1200"/>
              </a:spcBef>
              <a:spcAft>
                <a:spcPts val="0"/>
              </a:spcAft>
              <a:buNone/>
            </a:pPr>
            <a:r>
              <a:rPr lang="en" sz="1500">
                <a:solidFill>
                  <a:schemeClr val="accent3"/>
                </a:solidFill>
                <a:latin typeface="Average"/>
                <a:ea typeface="Average"/>
                <a:cs typeface="Average"/>
                <a:sym typeface="Average"/>
              </a:rPr>
              <a:t>Mach 2 dash capability exceeds the required Mach 1.6</a:t>
            </a:r>
            <a:endParaRPr sz="1500">
              <a:solidFill>
                <a:schemeClr val="accent3"/>
              </a:solidFill>
              <a:latin typeface="Average"/>
              <a:ea typeface="Average"/>
              <a:cs typeface="Average"/>
              <a:sym typeface="Average"/>
            </a:endParaRPr>
          </a:p>
          <a:p>
            <a:pPr marL="0" lvl="0" indent="0" algn="l" rtl="0">
              <a:lnSpc>
                <a:spcPct val="115000"/>
              </a:lnSpc>
              <a:spcBef>
                <a:spcPts val="1200"/>
              </a:spcBef>
              <a:spcAft>
                <a:spcPts val="0"/>
              </a:spcAft>
              <a:buNone/>
            </a:pPr>
            <a:endParaRPr sz="1500">
              <a:solidFill>
                <a:schemeClr val="accent3"/>
              </a:solidFill>
              <a:latin typeface="Average"/>
              <a:ea typeface="Average"/>
              <a:cs typeface="Average"/>
              <a:sym typeface="Average"/>
            </a:endParaRPr>
          </a:p>
          <a:p>
            <a:pPr marL="0" lvl="0" indent="0" algn="l" rtl="0">
              <a:lnSpc>
                <a:spcPct val="115000"/>
              </a:lnSpc>
              <a:spcBef>
                <a:spcPts val="1200"/>
              </a:spcBef>
              <a:spcAft>
                <a:spcPts val="1200"/>
              </a:spcAft>
              <a:buNone/>
            </a:pPr>
            <a:endParaRPr sz="1500">
              <a:solidFill>
                <a:schemeClr val="accent3"/>
              </a:solidFill>
              <a:latin typeface="Average"/>
              <a:ea typeface="Average"/>
              <a:cs typeface="Average"/>
              <a:sym typeface="Average"/>
            </a:endParaRPr>
          </a:p>
        </p:txBody>
      </p:sp>
    </p:spTree>
    <p:extLst>
      <p:ext uri="{BB962C8B-B14F-4D97-AF65-F5344CB8AC3E}">
        <p14:creationId xmlns:p14="http://schemas.microsoft.com/office/powerpoint/2010/main" val="603852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33"/>
          <p:cNvSpPr txBox="1">
            <a:spLocks noGrp="1"/>
          </p:cNvSpPr>
          <p:nvPr>
            <p:ph type="title"/>
          </p:nvPr>
        </p:nvSpPr>
        <p:spPr>
          <a:xfrm>
            <a:off x="231000" y="100175"/>
            <a:ext cx="25500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Major Innovations 	 </a:t>
            </a:r>
            <a:endParaRPr/>
          </a:p>
        </p:txBody>
      </p:sp>
      <p:sp>
        <p:nvSpPr>
          <p:cNvPr id="186" name="Google Shape;186;p33"/>
          <p:cNvSpPr txBox="1">
            <a:spLocks noGrp="1"/>
          </p:cNvSpPr>
          <p:nvPr>
            <p:ph type="body" idx="1"/>
          </p:nvPr>
        </p:nvSpPr>
        <p:spPr>
          <a:xfrm>
            <a:off x="311700" y="1152475"/>
            <a:ext cx="4260300" cy="3416400"/>
          </a:xfrm>
          <a:prstGeom prst="rect">
            <a:avLst/>
          </a:prstGeom>
          <a:ln w="9525" cap="flat" cmpd="sng">
            <a:solidFill>
              <a:schemeClr val="accent5"/>
            </a:solidFill>
            <a:prstDash val="solid"/>
            <a:round/>
            <a:headEnd type="none" w="sm" len="sm"/>
            <a:tailEnd type="none" w="sm" len="sm"/>
          </a:ln>
        </p:spPr>
        <p:txBody>
          <a:bodyPr spcFirstLastPara="1" wrap="square" lIns="91425" tIns="91425" rIns="91425" bIns="91425" anchor="t" anchorCtr="0">
            <a:normAutofit fontScale="92500" lnSpcReduction="10000"/>
          </a:bodyPr>
          <a:lstStyle/>
          <a:p>
            <a:pPr marL="0" lvl="0" indent="0" algn="l" rtl="0">
              <a:spcBef>
                <a:spcPts val="0"/>
              </a:spcBef>
              <a:spcAft>
                <a:spcPts val="0"/>
              </a:spcAft>
              <a:buNone/>
            </a:pPr>
            <a:r>
              <a:rPr lang="en"/>
              <a:t>Purpose: </a:t>
            </a:r>
            <a:endParaRPr/>
          </a:p>
          <a:p>
            <a:pPr marL="457200" lvl="0" indent="-342900" algn="l" rtl="0">
              <a:spcBef>
                <a:spcPts val="1200"/>
              </a:spcBef>
              <a:spcAft>
                <a:spcPts val="0"/>
              </a:spcAft>
              <a:buSzPts val="1800"/>
              <a:buAutoNum type="arabicPeriod"/>
            </a:pPr>
            <a:r>
              <a:rPr lang="en"/>
              <a:t>Generate Vortices at high AOA</a:t>
            </a:r>
            <a:endParaRPr/>
          </a:p>
          <a:p>
            <a:pPr marL="457200" lvl="0" indent="-342900" algn="l" rtl="0">
              <a:spcBef>
                <a:spcPts val="0"/>
              </a:spcBef>
              <a:spcAft>
                <a:spcPts val="0"/>
              </a:spcAft>
              <a:buSzPts val="1800"/>
              <a:buAutoNum type="arabicPeriod"/>
            </a:pPr>
            <a:r>
              <a:rPr lang="en"/>
              <a:t>Delay flow separation </a:t>
            </a:r>
            <a:endParaRPr/>
          </a:p>
          <a:p>
            <a:pPr marL="457200" lvl="0" indent="-342900" algn="l" rtl="0">
              <a:spcBef>
                <a:spcPts val="0"/>
              </a:spcBef>
              <a:spcAft>
                <a:spcPts val="0"/>
              </a:spcAft>
              <a:buSzPts val="1800"/>
              <a:buAutoNum type="arabicPeriod"/>
            </a:pPr>
            <a:r>
              <a:rPr lang="en"/>
              <a:t>Improve lift and maneuverability </a:t>
            </a:r>
            <a:endParaRPr/>
          </a:p>
          <a:p>
            <a:pPr marL="0" lvl="0" indent="0" algn="l" rtl="0">
              <a:spcBef>
                <a:spcPts val="1200"/>
              </a:spcBef>
              <a:spcAft>
                <a:spcPts val="0"/>
              </a:spcAft>
              <a:buNone/>
            </a:pPr>
            <a:r>
              <a:rPr lang="en"/>
              <a:t>Benefits: </a:t>
            </a:r>
            <a:endParaRPr/>
          </a:p>
          <a:p>
            <a:pPr marL="457200" lvl="0" indent="-342900" algn="l" rtl="0">
              <a:spcBef>
                <a:spcPts val="1200"/>
              </a:spcBef>
              <a:spcAft>
                <a:spcPts val="0"/>
              </a:spcAft>
              <a:buSzPts val="1800"/>
              <a:buAutoNum type="arabicPeriod"/>
            </a:pPr>
            <a:r>
              <a:rPr lang="en"/>
              <a:t>Increased CLmax</a:t>
            </a:r>
            <a:endParaRPr/>
          </a:p>
          <a:p>
            <a:pPr marL="457200" lvl="0" indent="-342900" algn="l" rtl="0">
              <a:spcBef>
                <a:spcPts val="0"/>
              </a:spcBef>
              <a:spcAft>
                <a:spcPts val="0"/>
              </a:spcAft>
              <a:buSzPts val="1800"/>
              <a:buAutoNum type="arabicPeriod"/>
            </a:pPr>
            <a:r>
              <a:rPr lang="en"/>
              <a:t>Improved dogfight performance </a:t>
            </a:r>
            <a:endParaRPr/>
          </a:p>
          <a:p>
            <a:pPr marL="457200" lvl="0" indent="-342900" algn="l" rtl="0">
              <a:spcBef>
                <a:spcPts val="0"/>
              </a:spcBef>
              <a:spcAft>
                <a:spcPts val="0"/>
              </a:spcAft>
              <a:buSzPts val="1800"/>
              <a:buAutoNum type="arabicPeriod"/>
            </a:pPr>
            <a:r>
              <a:rPr lang="en"/>
              <a:t>Better carrier landing control</a:t>
            </a:r>
            <a:endParaRPr/>
          </a:p>
          <a:p>
            <a:pPr marL="0" lvl="0" indent="0" algn="l" rtl="0">
              <a:spcBef>
                <a:spcPts val="1200"/>
              </a:spcBef>
              <a:spcAft>
                <a:spcPts val="1200"/>
              </a:spcAft>
              <a:buNone/>
            </a:pPr>
            <a:r>
              <a:rPr lang="en"/>
              <a:t> </a:t>
            </a:r>
            <a:endParaRPr/>
          </a:p>
        </p:txBody>
      </p:sp>
      <p:sp>
        <p:nvSpPr>
          <p:cNvPr id="187" name="Google Shape;187;p33"/>
          <p:cNvSpPr txBox="1">
            <a:spLocks noGrp="1"/>
          </p:cNvSpPr>
          <p:nvPr>
            <p:ph type="title"/>
          </p:nvPr>
        </p:nvSpPr>
        <p:spPr>
          <a:xfrm>
            <a:off x="1788750" y="643525"/>
            <a:ext cx="5566500" cy="572700"/>
          </a:xfrm>
          <a:prstGeom prst="rect">
            <a:avLst/>
          </a:prstGeom>
        </p:spPr>
        <p:txBody>
          <a:bodyPr spcFirstLastPara="1" wrap="square" lIns="91425" tIns="91425" rIns="91425" bIns="91425" anchor="t" anchorCtr="0">
            <a:normAutofit fontScale="90000"/>
          </a:bodyPr>
          <a:lstStyle/>
          <a:p>
            <a:pPr marL="457200" lvl="0" indent="-400050" algn="ctr" rtl="0">
              <a:spcBef>
                <a:spcPts val="0"/>
              </a:spcBef>
              <a:spcAft>
                <a:spcPts val="0"/>
              </a:spcAft>
              <a:buSzPct val="100000"/>
              <a:buAutoNum type="arabicPeriod"/>
            </a:pPr>
            <a:r>
              <a:rPr lang="en"/>
              <a:t>Strakes/ Leading-edge root extensions </a:t>
            </a:r>
            <a:endParaRPr/>
          </a:p>
        </p:txBody>
      </p:sp>
      <p:pic>
        <p:nvPicPr>
          <p:cNvPr id="188" name="Google Shape;188;p33"/>
          <p:cNvPicPr preferRelativeResize="0"/>
          <p:nvPr/>
        </p:nvPicPr>
        <p:blipFill rotWithShape="1">
          <a:blip r:embed="rId3">
            <a:alphaModFix/>
          </a:blip>
          <a:srcRect l="4317" t="4288" r="34099"/>
          <a:stretch/>
        </p:blipFill>
        <p:spPr>
          <a:xfrm>
            <a:off x="6781375" y="1216225"/>
            <a:ext cx="2362624" cy="2570299"/>
          </a:xfrm>
          <a:prstGeom prst="rect">
            <a:avLst/>
          </a:prstGeom>
          <a:noFill/>
          <a:ln>
            <a:noFill/>
          </a:ln>
        </p:spPr>
      </p:pic>
      <p:sp>
        <p:nvSpPr>
          <p:cNvPr id="189" name="Google Shape;189;p33"/>
          <p:cNvSpPr/>
          <p:nvPr/>
        </p:nvSpPr>
        <p:spPr>
          <a:xfrm>
            <a:off x="6882475" y="2127850"/>
            <a:ext cx="792300" cy="3594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verage"/>
              <a:ea typeface="Average"/>
              <a:cs typeface="Average"/>
              <a:sym typeface="Average"/>
            </a:endParaRPr>
          </a:p>
        </p:txBody>
      </p:sp>
      <p:sp>
        <p:nvSpPr>
          <p:cNvPr id="190" name="Google Shape;190;p33"/>
          <p:cNvSpPr txBox="1"/>
          <p:nvPr/>
        </p:nvSpPr>
        <p:spPr>
          <a:xfrm>
            <a:off x="4660438" y="1460150"/>
            <a:ext cx="2032500" cy="2612100"/>
          </a:xfrm>
          <a:prstGeom prst="rect">
            <a:avLst/>
          </a:prstGeom>
          <a:noFill/>
          <a:ln w="9525" cap="flat" cmpd="sng">
            <a:solidFill>
              <a:schemeClr val="accent5"/>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800">
                <a:solidFill>
                  <a:schemeClr val="accent3"/>
                </a:solidFill>
                <a:latin typeface="Average"/>
                <a:ea typeface="Average"/>
                <a:cs typeface="Average"/>
                <a:sym typeface="Average"/>
              </a:rPr>
              <a:t>Aircrafts using similar system: </a:t>
            </a:r>
            <a:endParaRPr sz="1800">
              <a:solidFill>
                <a:schemeClr val="accent3"/>
              </a:solidFill>
              <a:latin typeface="Average"/>
              <a:ea typeface="Average"/>
              <a:cs typeface="Average"/>
              <a:sym typeface="Average"/>
            </a:endParaRPr>
          </a:p>
          <a:p>
            <a:pPr marL="0" lvl="0" indent="0" algn="l" rtl="0">
              <a:spcBef>
                <a:spcPts val="1200"/>
              </a:spcBef>
              <a:spcAft>
                <a:spcPts val="0"/>
              </a:spcAft>
              <a:buNone/>
            </a:pPr>
            <a:endParaRPr sz="1800">
              <a:solidFill>
                <a:schemeClr val="accent3"/>
              </a:solidFill>
              <a:latin typeface="Average"/>
              <a:ea typeface="Average"/>
              <a:cs typeface="Average"/>
              <a:sym typeface="Average"/>
            </a:endParaRPr>
          </a:p>
          <a:p>
            <a:pPr marL="457200" lvl="0" indent="-342900" algn="l" rtl="0">
              <a:spcBef>
                <a:spcPts val="0"/>
              </a:spcBef>
              <a:spcAft>
                <a:spcPts val="0"/>
              </a:spcAft>
              <a:buClr>
                <a:schemeClr val="accent3"/>
              </a:buClr>
              <a:buSzPts val="1800"/>
              <a:buFont typeface="Average"/>
              <a:buChar char="-"/>
            </a:pPr>
            <a:r>
              <a:rPr lang="en" sz="1800">
                <a:solidFill>
                  <a:schemeClr val="accent3"/>
                </a:solidFill>
                <a:latin typeface="Average"/>
                <a:ea typeface="Average"/>
                <a:cs typeface="Average"/>
                <a:sym typeface="Average"/>
              </a:rPr>
              <a:t>F/A - 18 </a:t>
            </a:r>
            <a:endParaRPr sz="1800">
              <a:solidFill>
                <a:schemeClr val="accent3"/>
              </a:solidFill>
              <a:latin typeface="Average"/>
              <a:ea typeface="Average"/>
              <a:cs typeface="Average"/>
              <a:sym typeface="Average"/>
            </a:endParaRPr>
          </a:p>
          <a:p>
            <a:pPr marL="0" lvl="0" indent="0" algn="l" rtl="0">
              <a:spcBef>
                <a:spcPts val="0"/>
              </a:spcBef>
              <a:spcAft>
                <a:spcPts val="0"/>
              </a:spcAft>
              <a:buNone/>
            </a:pPr>
            <a:endParaRPr sz="1800">
              <a:solidFill>
                <a:schemeClr val="accent3"/>
              </a:solidFill>
              <a:latin typeface="Average"/>
              <a:ea typeface="Average"/>
              <a:cs typeface="Average"/>
              <a:sym typeface="Average"/>
            </a:endParaRPr>
          </a:p>
          <a:p>
            <a:pPr marL="457200" lvl="0" indent="-342900" algn="l" rtl="0">
              <a:spcBef>
                <a:spcPts val="0"/>
              </a:spcBef>
              <a:spcAft>
                <a:spcPts val="0"/>
              </a:spcAft>
              <a:buClr>
                <a:schemeClr val="accent3"/>
              </a:buClr>
              <a:buSzPts val="1800"/>
              <a:buFont typeface="Average"/>
              <a:buChar char="-"/>
            </a:pPr>
            <a:r>
              <a:rPr lang="en" sz="1800">
                <a:solidFill>
                  <a:schemeClr val="accent3"/>
                </a:solidFill>
                <a:latin typeface="Average"/>
                <a:ea typeface="Average"/>
                <a:cs typeface="Average"/>
                <a:sym typeface="Average"/>
              </a:rPr>
              <a:t>Sukhoi Su-27</a:t>
            </a:r>
            <a:endParaRPr sz="1800">
              <a:solidFill>
                <a:schemeClr val="accent3"/>
              </a:solidFill>
              <a:latin typeface="Average"/>
              <a:ea typeface="Average"/>
              <a:cs typeface="Average"/>
              <a:sym typeface="Average"/>
            </a:endParaRPr>
          </a:p>
          <a:p>
            <a:pPr marL="0" lvl="0" indent="0" algn="l" rtl="0">
              <a:spcBef>
                <a:spcPts val="0"/>
              </a:spcBef>
              <a:spcAft>
                <a:spcPts val="0"/>
              </a:spcAft>
              <a:buNone/>
            </a:pPr>
            <a:endParaRPr sz="1800">
              <a:solidFill>
                <a:schemeClr val="accent3"/>
              </a:solidFill>
              <a:latin typeface="Average"/>
              <a:ea typeface="Average"/>
              <a:cs typeface="Average"/>
              <a:sym typeface="Average"/>
            </a:endParaRPr>
          </a:p>
          <a:p>
            <a:pPr marL="457200" lvl="0" indent="-342900" algn="l" rtl="0">
              <a:spcBef>
                <a:spcPts val="0"/>
              </a:spcBef>
              <a:spcAft>
                <a:spcPts val="0"/>
              </a:spcAft>
              <a:buClr>
                <a:schemeClr val="accent3"/>
              </a:buClr>
              <a:buSzPts val="1800"/>
              <a:buFont typeface="Average"/>
              <a:buChar char="-"/>
            </a:pPr>
            <a:r>
              <a:rPr lang="en" sz="1800">
                <a:solidFill>
                  <a:schemeClr val="accent3"/>
                </a:solidFill>
                <a:latin typeface="Average"/>
                <a:ea typeface="Average"/>
                <a:cs typeface="Average"/>
                <a:sym typeface="Average"/>
              </a:rPr>
              <a:t>F-16</a:t>
            </a:r>
            <a:endParaRPr sz="1800">
              <a:solidFill>
                <a:schemeClr val="accent3"/>
              </a:solidFill>
              <a:latin typeface="Average"/>
              <a:ea typeface="Average"/>
              <a:cs typeface="Average"/>
              <a:sym typeface="Average"/>
            </a:endParaRPr>
          </a:p>
        </p:txBody>
      </p:sp>
    </p:spTree>
    <p:extLst>
      <p:ext uri="{BB962C8B-B14F-4D97-AF65-F5344CB8AC3E}">
        <p14:creationId xmlns:p14="http://schemas.microsoft.com/office/powerpoint/2010/main" val="22323278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34"/>
          <p:cNvSpPr txBox="1">
            <a:spLocks noGrp="1"/>
          </p:cNvSpPr>
          <p:nvPr>
            <p:ph type="title"/>
          </p:nvPr>
        </p:nvSpPr>
        <p:spPr>
          <a:xfrm>
            <a:off x="231000" y="100175"/>
            <a:ext cx="25500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Major Innovations 	 </a:t>
            </a:r>
            <a:endParaRPr/>
          </a:p>
        </p:txBody>
      </p:sp>
      <p:sp>
        <p:nvSpPr>
          <p:cNvPr id="196" name="Google Shape;196;p34"/>
          <p:cNvSpPr txBox="1">
            <a:spLocks noGrp="1"/>
          </p:cNvSpPr>
          <p:nvPr>
            <p:ph type="body" idx="1"/>
          </p:nvPr>
        </p:nvSpPr>
        <p:spPr>
          <a:xfrm>
            <a:off x="333725" y="1145150"/>
            <a:ext cx="3907200" cy="3416400"/>
          </a:xfrm>
          <a:prstGeom prst="rect">
            <a:avLst/>
          </a:prstGeom>
          <a:ln w="9525" cap="flat" cmpd="sng">
            <a:solidFill>
              <a:schemeClr val="accent5"/>
            </a:solidFill>
            <a:prstDash val="solid"/>
            <a:round/>
            <a:headEnd type="none" w="sm" len="sm"/>
            <a:tailEnd type="none" w="sm" len="sm"/>
          </a:ln>
        </p:spPr>
        <p:txBody>
          <a:bodyPr spcFirstLastPara="1" wrap="square" lIns="91425" tIns="91425" rIns="91425" bIns="91425" anchor="t" anchorCtr="0">
            <a:normAutofit fontScale="92500"/>
          </a:bodyPr>
          <a:lstStyle/>
          <a:p>
            <a:pPr marL="0" lvl="0" indent="0" algn="l" rtl="0">
              <a:spcBef>
                <a:spcPts val="0"/>
              </a:spcBef>
              <a:spcAft>
                <a:spcPts val="0"/>
              </a:spcAft>
              <a:buNone/>
            </a:pPr>
            <a:r>
              <a:rPr lang="en"/>
              <a:t>Advantages:</a:t>
            </a:r>
            <a:endParaRPr/>
          </a:p>
          <a:p>
            <a:pPr marL="457200" lvl="0" indent="-342900" algn="l" rtl="0">
              <a:spcBef>
                <a:spcPts val="1200"/>
              </a:spcBef>
              <a:spcAft>
                <a:spcPts val="0"/>
              </a:spcAft>
              <a:buSzPts val="1800"/>
              <a:buAutoNum type="arabicPeriod"/>
            </a:pPr>
            <a:r>
              <a:rPr lang="en"/>
              <a:t>Reduce weight </a:t>
            </a:r>
            <a:endParaRPr/>
          </a:p>
          <a:p>
            <a:pPr marL="457200" lvl="0" indent="-342900" algn="l" rtl="0">
              <a:spcBef>
                <a:spcPts val="0"/>
              </a:spcBef>
              <a:spcAft>
                <a:spcPts val="0"/>
              </a:spcAft>
              <a:buSzPts val="1800"/>
              <a:buAutoNum type="arabicPeriod"/>
            </a:pPr>
            <a:r>
              <a:rPr lang="en"/>
              <a:t>Lower drag</a:t>
            </a:r>
            <a:endParaRPr/>
          </a:p>
          <a:p>
            <a:pPr marL="457200" lvl="0" indent="-342900" algn="l" rtl="0">
              <a:spcBef>
                <a:spcPts val="0"/>
              </a:spcBef>
              <a:spcAft>
                <a:spcPts val="0"/>
              </a:spcAft>
              <a:buSzPts val="1800"/>
              <a:buAutoNum type="arabicPeriod"/>
            </a:pPr>
            <a:r>
              <a:rPr lang="en"/>
              <a:t>Improved stealth potential </a:t>
            </a:r>
            <a:endParaRPr/>
          </a:p>
          <a:p>
            <a:pPr marL="457200" lvl="0" indent="-342900" algn="l" rtl="0">
              <a:spcBef>
                <a:spcPts val="0"/>
              </a:spcBef>
              <a:spcAft>
                <a:spcPts val="0"/>
              </a:spcAft>
              <a:buSzPts val="1800"/>
              <a:buAutoNum type="arabicPeriod"/>
            </a:pPr>
            <a:r>
              <a:rPr lang="en"/>
              <a:t>Reduced maintenance costs</a:t>
            </a:r>
            <a:endParaRPr/>
          </a:p>
          <a:p>
            <a:pPr marL="457200" lvl="0" indent="-342900" algn="l" rtl="0">
              <a:spcBef>
                <a:spcPts val="0"/>
              </a:spcBef>
              <a:spcAft>
                <a:spcPts val="0"/>
              </a:spcAft>
              <a:buSzPts val="1800"/>
              <a:buAutoNum type="arabicPeriod"/>
            </a:pPr>
            <a:r>
              <a:rPr lang="en"/>
              <a:t>Fewer moving components </a:t>
            </a:r>
            <a:endParaRPr/>
          </a:p>
          <a:p>
            <a:pPr marL="0" lvl="0" indent="0" algn="l" rtl="0">
              <a:spcBef>
                <a:spcPts val="1200"/>
              </a:spcBef>
              <a:spcAft>
                <a:spcPts val="0"/>
              </a:spcAft>
              <a:buNone/>
            </a:pPr>
            <a:r>
              <a:rPr lang="en"/>
              <a:t>Aircrafts using similar system: </a:t>
            </a:r>
            <a:endParaRPr/>
          </a:p>
          <a:p>
            <a:pPr marL="457200" lvl="0" indent="-342900" algn="l" rtl="0">
              <a:spcBef>
                <a:spcPts val="1200"/>
              </a:spcBef>
              <a:spcAft>
                <a:spcPts val="0"/>
              </a:spcAft>
              <a:buSzPts val="1800"/>
              <a:buChar char="-"/>
            </a:pPr>
            <a:r>
              <a:rPr lang="en"/>
              <a:t>F-35</a:t>
            </a:r>
            <a:endParaRPr/>
          </a:p>
          <a:p>
            <a:pPr marL="457200" lvl="0" indent="-342900" algn="l" rtl="0">
              <a:spcBef>
                <a:spcPts val="0"/>
              </a:spcBef>
              <a:spcAft>
                <a:spcPts val="0"/>
              </a:spcAft>
              <a:buSzPts val="1800"/>
              <a:buChar char="-"/>
            </a:pPr>
            <a:r>
              <a:rPr lang="en"/>
              <a:t>Sukhoi Su-75</a:t>
            </a:r>
            <a:endParaRPr/>
          </a:p>
          <a:p>
            <a:pPr marL="457200" lvl="0" indent="-342900" algn="l" rtl="0">
              <a:spcBef>
                <a:spcPts val="0"/>
              </a:spcBef>
              <a:spcAft>
                <a:spcPts val="0"/>
              </a:spcAft>
              <a:buSzPts val="1800"/>
              <a:buChar char="-"/>
            </a:pPr>
            <a:r>
              <a:rPr lang="en"/>
              <a:t>Chengdu J-20</a:t>
            </a:r>
            <a:endParaRPr/>
          </a:p>
        </p:txBody>
      </p:sp>
      <p:sp>
        <p:nvSpPr>
          <p:cNvPr id="197" name="Google Shape;197;p34"/>
          <p:cNvSpPr txBox="1">
            <a:spLocks noGrp="1"/>
          </p:cNvSpPr>
          <p:nvPr>
            <p:ph type="title"/>
          </p:nvPr>
        </p:nvSpPr>
        <p:spPr>
          <a:xfrm>
            <a:off x="1788750" y="643525"/>
            <a:ext cx="55665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2.  Diverterless supersonic Engine Intakes</a:t>
            </a:r>
            <a:endParaRPr/>
          </a:p>
        </p:txBody>
      </p:sp>
      <p:pic>
        <p:nvPicPr>
          <p:cNvPr id="198" name="Google Shape;198;p34"/>
          <p:cNvPicPr preferRelativeResize="0"/>
          <p:nvPr/>
        </p:nvPicPr>
        <p:blipFill>
          <a:blip r:embed="rId3">
            <a:alphaModFix/>
          </a:blip>
          <a:stretch>
            <a:fillRect/>
          </a:stretch>
        </p:blipFill>
        <p:spPr>
          <a:xfrm>
            <a:off x="5026474" y="1478691"/>
            <a:ext cx="3507926" cy="2419351"/>
          </a:xfrm>
          <a:prstGeom prst="rect">
            <a:avLst/>
          </a:prstGeom>
          <a:noFill/>
          <a:ln>
            <a:noFill/>
          </a:ln>
        </p:spPr>
      </p:pic>
    </p:spTree>
    <p:extLst>
      <p:ext uri="{BB962C8B-B14F-4D97-AF65-F5344CB8AC3E}">
        <p14:creationId xmlns:p14="http://schemas.microsoft.com/office/powerpoint/2010/main" val="4286110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Risks</a:t>
            </a:r>
            <a:endParaRPr dirty="0"/>
          </a:p>
        </p:txBody>
      </p:sp>
      <p:sp>
        <p:nvSpPr>
          <p:cNvPr id="204" name="Google Shape;204;p35"/>
          <p:cNvSpPr txBox="1"/>
          <p:nvPr/>
        </p:nvSpPr>
        <p:spPr>
          <a:xfrm>
            <a:off x="198100" y="1107950"/>
            <a:ext cx="2861700" cy="432900"/>
          </a:xfrm>
          <a:prstGeom prst="rect">
            <a:avLst/>
          </a:prstGeom>
          <a:noFill/>
          <a:ln w="9525" cap="flat" cmpd="sng">
            <a:solidFill>
              <a:schemeClr val="accent5"/>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sz="1800">
                <a:solidFill>
                  <a:schemeClr val="accent3"/>
                </a:solidFill>
                <a:latin typeface="Average"/>
                <a:ea typeface="Average"/>
                <a:cs typeface="Average"/>
                <a:sym typeface="Average"/>
              </a:rPr>
              <a:t>Engine failure</a:t>
            </a:r>
            <a:endParaRPr sz="1800">
              <a:solidFill>
                <a:schemeClr val="accent3"/>
              </a:solidFill>
              <a:latin typeface="Average"/>
              <a:ea typeface="Average"/>
              <a:cs typeface="Average"/>
              <a:sym typeface="Average"/>
            </a:endParaRPr>
          </a:p>
          <a:p>
            <a:pPr marL="457200" lvl="0" indent="0" algn="l" rtl="0">
              <a:spcBef>
                <a:spcPts val="0"/>
              </a:spcBef>
              <a:spcAft>
                <a:spcPts val="0"/>
              </a:spcAft>
              <a:buNone/>
            </a:pPr>
            <a:r>
              <a:rPr lang="en" sz="1800">
                <a:solidFill>
                  <a:schemeClr val="accent3"/>
                </a:solidFill>
                <a:latin typeface="Average"/>
                <a:ea typeface="Average"/>
                <a:cs typeface="Average"/>
                <a:sym typeface="Average"/>
              </a:rPr>
              <a:t> </a:t>
            </a:r>
            <a:endParaRPr sz="1800">
              <a:solidFill>
                <a:schemeClr val="accent3"/>
              </a:solidFill>
              <a:latin typeface="Average"/>
              <a:ea typeface="Average"/>
              <a:cs typeface="Average"/>
              <a:sym typeface="Average"/>
            </a:endParaRPr>
          </a:p>
          <a:p>
            <a:pPr marL="0" lvl="0" indent="0" algn="l" rtl="0">
              <a:spcBef>
                <a:spcPts val="0"/>
              </a:spcBef>
              <a:spcAft>
                <a:spcPts val="0"/>
              </a:spcAft>
              <a:buNone/>
            </a:pPr>
            <a:endParaRPr sz="1800">
              <a:solidFill>
                <a:schemeClr val="accent3"/>
              </a:solidFill>
              <a:latin typeface="Average"/>
              <a:ea typeface="Average"/>
              <a:cs typeface="Average"/>
              <a:sym typeface="Average"/>
            </a:endParaRPr>
          </a:p>
        </p:txBody>
      </p:sp>
      <p:sp>
        <p:nvSpPr>
          <p:cNvPr id="205" name="Google Shape;205;p35"/>
          <p:cNvSpPr txBox="1"/>
          <p:nvPr/>
        </p:nvSpPr>
        <p:spPr>
          <a:xfrm>
            <a:off x="3193633" y="1107950"/>
            <a:ext cx="2861700" cy="432900"/>
          </a:xfrm>
          <a:prstGeom prst="rect">
            <a:avLst/>
          </a:prstGeom>
          <a:noFill/>
          <a:ln w="9525" cap="flat" cmpd="sng">
            <a:solidFill>
              <a:schemeClr val="accent5"/>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sz="1800">
                <a:solidFill>
                  <a:schemeClr val="accent3"/>
                </a:solidFill>
                <a:latin typeface="Average"/>
                <a:ea typeface="Average"/>
                <a:cs typeface="Average"/>
                <a:sym typeface="Average"/>
              </a:rPr>
              <a:t>Engine Sizing</a:t>
            </a:r>
            <a:endParaRPr sz="1800">
              <a:solidFill>
                <a:schemeClr val="accent3"/>
              </a:solidFill>
              <a:latin typeface="Average"/>
              <a:ea typeface="Average"/>
              <a:cs typeface="Average"/>
              <a:sym typeface="Average"/>
            </a:endParaRPr>
          </a:p>
        </p:txBody>
      </p:sp>
      <p:sp>
        <p:nvSpPr>
          <p:cNvPr id="206" name="Google Shape;206;p35"/>
          <p:cNvSpPr txBox="1"/>
          <p:nvPr/>
        </p:nvSpPr>
        <p:spPr>
          <a:xfrm>
            <a:off x="6189166" y="1116333"/>
            <a:ext cx="2861700" cy="432900"/>
          </a:xfrm>
          <a:prstGeom prst="rect">
            <a:avLst/>
          </a:prstGeom>
          <a:noFill/>
          <a:ln w="9525" cap="flat" cmpd="sng">
            <a:solidFill>
              <a:schemeClr val="accent5"/>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sz="1800" dirty="0">
                <a:solidFill>
                  <a:schemeClr val="accent3"/>
                </a:solidFill>
                <a:latin typeface="Average"/>
                <a:ea typeface="Average"/>
                <a:cs typeface="Average"/>
                <a:sym typeface="Average"/>
              </a:rPr>
              <a:t>Auxiliary power unit</a:t>
            </a:r>
            <a:endParaRPr sz="1800" dirty="0">
              <a:solidFill>
                <a:schemeClr val="accent3"/>
              </a:solidFill>
              <a:latin typeface="Average"/>
              <a:ea typeface="Average"/>
              <a:cs typeface="Average"/>
              <a:sym typeface="Average"/>
            </a:endParaRPr>
          </a:p>
          <a:p>
            <a:pPr marL="457200" lvl="0" indent="0" algn="l" rtl="0">
              <a:spcBef>
                <a:spcPts val="0"/>
              </a:spcBef>
              <a:spcAft>
                <a:spcPts val="0"/>
              </a:spcAft>
              <a:buNone/>
            </a:pPr>
            <a:r>
              <a:rPr lang="en" sz="1800" dirty="0">
                <a:solidFill>
                  <a:schemeClr val="accent3"/>
                </a:solidFill>
                <a:latin typeface="Average"/>
                <a:ea typeface="Average"/>
                <a:cs typeface="Average"/>
                <a:sym typeface="Average"/>
              </a:rPr>
              <a:t> </a:t>
            </a:r>
            <a:endParaRPr sz="1800" dirty="0">
              <a:solidFill>
                <a:schemeClr val="accent3"/>
              </a:solidFill>
              <a:latin typeface="Average"/>
              <a:ea typeface="Average"/>
              <a:cs typeface="Average"/>
              <a:sym typeface="Average"/>
            </a:endParaRPr>
          </a:p>
          <a:p>
            <a:pPr marL="0" lvl="0" indent="0" algn="l" rtl="0">
              <a:spcBef>
                <a:spcPts val="0"/>
              </a:spcBef>
              <a:spcAft>
                <a:spcPts val="0"/>
              </a:spcAft>
              <a:buNone/>
            </a:pPr>
            <a:endParaRPr sz="1800" dirty="0">
              <a:solidFill>
                <a:schemeClr val="accent3"/>
              </a:solidFill>
              <a:latin typeface="Average"/>
              <a:ea typeface="Average"/>
              <a:cs typeface="Average"/>
              <a:sym typeface="Average"/>
            </a:endParaRPr>
          </a:p>
        </p:txBody>
      </p:sp>
      <p:sp>
        <p:nvSpPr>
          <p:cNvPr id="207" name="Google Shape;207;p35"/>
          <p:cNvSpPr txBox="1"/>
          <p:nvPr/>
        </p:nvSpPr>
        <p:spPr>
          <a:xfrm>
            <a:off x="190775" y="1636225"/>
            <a:ext cx="2861700" cy="3379383"/>
          </a:xfrm>
          <a:prstGeom prst="rect">
            <a:avLst/>
          </a:prstGeom>
          <a:noFill/>
          <a:ln>
            <a:solidFill>
              <a:schemeClr val="tx1"/>
            </a:solidFill>
          </a:ln>
        </p:spPr>
        <p:txBody>
          <a:bodyPr spcFirstLastPara="1" wrap="square" lIns="91425" tIns="91425" rIns="91425" bIns="91425" anchor="t" anchorCtr="0">
            <a:noAutofit/>
          </a:bodyPr>
          <a:lstStyle/>
          <a:p>
            <a:pPr marL="457200" lvl="0" indent="-342900" algn="l" rtl="0">
              <a:spcBef>
                <a:spcPts val="0"/>
              </a:spcBef>
              <a:spcAft>
                <a:spcPts val="0"/>
              </a:spcAft>
              <a:buClr>
                <a:schemeClr val="accent3"/>
              </a:buClr>
              <a:buSzPts val="1800"/>
              <a:buFont typeface="Average"/>
              <a:buChar char="-"/>
            </a:pPr>
            <a:r>
              <a:rPr lang="en" sz="1800" dirty="0">
                <a:solidFill>
                  <a:schemeClr val="accent3"/>
                </a:solidFill>
                <a:latin typeface="Average"/>
                <a:ea typeface="Average"/>
                <a:cs typeface="Average"/>
                <a:sym typeface="Average"/>
              </a:rPr>
              <a:t>Higher consequences </a:t>
            </a:r>
            <a:endParaRPr sz="1800" dirty="0">
              <a:solidFill>
                <a:schemeClr val="accent3"/>
              </a:solidFill>
              <a:latin typeface="Average"/>
              <a:ea typeface="Average"/>
              <a:cs typeface="Average"/>
              <a:sym typeface="Average"/>
            </a:endParaRPr>
          </a:p>
          <a:p>
            <a:pPr marL="0" lvl="0" indent="0" algn="l" rtl="0">
              <a:spcBef>
                <a:spcPts val="0"/>
              </a:spcBef>
              <a:spcAft>
                <a:spcPts val="0"/>
              </a:spcAft>
              <a:buNone/>
            </a:pPr>
            <a:endParaRPr sz="1800" dirty="0">
              <a:solidFill>
                <a:schemeClr val="accent3"/>
              </a:solidFill>
              <a:latin typeface="Average"/>
              <a:ea typeface="Average"/>
              <a:cs typeface="Average"/>
              <a:sym typeface="Average"/>
            </a:endParaRPr>
          </a:p>
          <a:p>
            <a:pPr marL="0" lvl="0" indent="0" algn="l" rtl="0">
              <a:spcBef>
                <a:spcPts val="0"/>
              </a:spcBef>
              <a:spcAft>
                <a:spcPts val="0"/>
              </a:spcAft>
              <a:buNone/>
            </a:pPr>
            <a:endParaRPr sz="1800" dirty="0">
              <a:solidFill>
                <a:schemeClr val="accent3"/>
              </a:solidFill>
              <a:latin typeface="Average"/>
              <a:ea typeface="Average"/>
              <a:cs typeface="Average"/>
              <a:sym typeface="Average"/>
            </a:endParaRPr>
          </a:p>
          <a:p>
            <a:pPr marL="0" lvl="0" indent="0" algn="l" rtl="0">
              <a:spcBef>
                <a:spcPts val="0"/>
              </a:spcBef>
              <a:spcAft>
                <a:spcPts val="0"/>
              </a:spcAft>
              <a:buNone/>
            </a:pPr>
            <a:r>
              <a:rPr lang="en" sz="1800" dirty="0">
                <a:solidFill>
                  <a:schemeClr val="accent3"/>
                </a:solidFill>
                <a:latin typeface="Average"/>
                <a:ea typeface="Average"/>
                <a:cs typeface="Average"/>
                <a:sym typeface="Average"/>
              </a:rPr>
              <a:t>Mitigation: </a:t>
            </a:r>
            <a:endParaRPr sz="1800" dirty="0">
              <a:solidFill>
                <a:schemeClr val="accent3"/>
              </a:solidFill>
              <a:latin typeface="Average"/>
              <a:ea typeface="Average"/>
              <a:cs typeface="Average"/>
              <a:sym typeface="Average"/>
            </a:endParaRPr>
          </a:p>
          <a:p>
            <a:pPr marL="0" lvl="0" indent="0" algn="l" rtl="0">
              <a:spcBef>
                <a:spcPts val="0"/>
              </a:spcBef>
              <a:spcAft>
                <a:spcPts val="0"/>
              </a:spcAft>
              <a:buNone/>
            </a:pPr>
            <a:endParaRPr sz="1800" dirty="0">
              <a:solidFill>
                <a:schemeClr val="accent3"/>
              </a:solidFill>
              <a:latin typeface="Average"/>
              <a:ea typeface="Average"/>
              <a:cs typeface="Average"/>
              <a:sym typeface="Average"/>
            </a:endParaRPr>
          </a:p>
          <a:p>
            <a:pPr marL="457200" lvl="0" indent="-342900" algn="l" rtl="0">
              <a:spcBef>
                <a:spcPts val="0"/>
              </a:spcBef>
              <a:spcAft>
                <a:spcPts val="0"/>
              </a:spcAft>
              <a:buClr>
                <a:schemeClr val="accent3"/>
              </a:buClr>
              <a:buSzPts val="1800"/>
              <a:buFont typeface="Average"/>
              <a:buChar char="-"/>
            </a:pPr>
            <a:r>
              <a:rPr lang="en" sz="1800" dirty="0">
                <a:solidFill>
                  <a:schemeClr val="accent3"/>
                </a:solidFill>
                <a:latin typeface="Average"/>
                <a:ea typeface="Average"/>
                <a:cs typeface="Average"/>
                <a:sym typeface="Average"/>
              </a:rPr>
              <a:t>Use of modern, reliable engine (F135) </a:t>
            </a:r>
            <a:endParaRPr sz="1800" dirty="0">
              <a:solidFill>
                <a:schemeClr val="accent3"/>
              </a:solidFill>
              <a:latin typeface="Average"/>
              <a:ea typeface="Average"/>
              <a:cs typeface="Average"/>
              <a:sym typeface="Average"/>
            </a:endParaRPr>
          </a:p>
          <a:p>
            <a:pPr marL="0" lvl="0" indent="0" algn="l" rtl="0">
              <a:spcBef>
                <a:spcPts val="0"/>
              </a:spcBef>
              <a:spcAft>
                <a:spcPts val="0"/>
              </a:spcAft>
              <a:buNone/>
            </a:pPr>
            <a:endParaRPr sz="1800" dirty="0">
              <a:solidFill>
                <a:schemeClr val="accent3"/>
              </a:solidFill>
              <a:latin typeface="Average"/>
              <a:ea typeface="Average"/>
              <a:cs typeface="Average"/>
              <a:sym typeface="Average"/>
            </a:endParaRPr>
          </a:p>
          <a:p>
            <a:pPr marL="457200" lvl="0" indent="-342900" algn="l" rtl="0">
              <a:spcBef>
                <a:spcPts val="0"/>
              </a:spcBef>
              <a:spcAft>
                <a:spcPts val="0"/>
              </a:spcAft>
              <a:buClr>
                <a:schemeClr val="accent3"/>
              </a:buClr>
              <a:buSzPts val="1800"/>
              <a:buFont typeface="Average"/>
              <a:buChar char="-"/>
            </a:pPr>
            <a:r>
              <a:rPr lang="en" sz="1800" dirty="0">
                <a:solidFill>
                  <a:schemeClr val="accent3"/>
                </a:solidFill>
                <a:latin typeface="Average"/>
                <a:ea typeface="Average"/>
                <a:cs typeface="Average"/>
                <a:sym typeface="Average"/>
              </a:rPr>
              <a:t>Redundant electrical and hydraulic systems</a:t>
            </a:r>
            <a:endParaRPr sz="1800" dirty="0">
              <a:solidFill>
                <a:schemeClr val="accent3"/>
              </a:solidFill>
              <a:latin typeface="Average"/>
              <a:ea typeface="Average"/>
              <a:cs typeface="Average"/>
              <a:sym typeface="Average"/>
            </a:endParaRPr>
          </a:p>
        </p:txBody>
      </p:sp>
      <p:sp>
        <p:nvSpPr>
          <p:cNvPr id="208" name="Google Shape;208;p35"/>
          <p:cNvSpPr txBox="1"/>
          <p:nvPr/>
        </p:nvSpPr>
        <p:spPr>
          <a:xfrm>
            <a:off x="3240200" y="1631075"/>
            <a:ext cx="2861700" cy="3384533"/>
          </a:xfrm>
          <a:prstGeom prst="rect">
            <a:avLst/>
          </a:prstGeom>
          <a:noFill/>
          <a:ln>
            <a:solidFill>
              <a:schemeClr val="tx1"/>
            </a:solidFill>
          </a:ln>
        </p:spPr>
        <p:txBody>
          <a:bodyPr spcFirstLastPara="1" wrap="square" lIns="91425" tIns="91425" rIns="91425" bIns="91425" anchor="t" anchorCtr="0">
            <a:noAutofit/>
          </a:bodyPr>
          <a:lstStyle/>
          <a:p>
            <a:pPr marL="457200" lvl="0" indent="-342900" algn="l" rtl="0">
              <a:spcBef>
                <a:spcPts val="0"/>
              </a:spcBef>
              <a:spcAft>
                <a:spcPts val="0"/>
              </a:spcAft>
              <a:buClr>
                <a:schemeClr val="accent3"/>
              </a:buClr>
              <a:buSzPts val="1800"/>
              <a:buFont typeface="Average"/>
              <a:buChar char="-"/>
            </a:pPr>
            <a:r>
              <a:rPr lang="en" sz="1800" dirty="0">
                <a:solidFill>
                  <a:schemeClr val="accent3"/>
                </a:solidFill>
                <a:latin typeface="Average"/>
                <a:ea typeface="Average"/>
                <a:cs typeface="Average"/>
                <a:sym typeface="Average"/>
              </a:rPr>
              <a:t>Insufficient performance </a:t>
            </a:r>
            <a:endParaRPr sz="1800" dirty="0">
              <a:solidFill>
                <a:schemeClr val="accent3"/>
              </a:solidFill>
              <a:latin typeface="Average"/>
              <a:ea typeface="Average"/>
              <a:cs typeface="Average"/>
              <a:sym typeface="Average"/>
            </a:endParaRPr>
          </a:p>
          <a:p>
            <a:pPr marL="457200" lvl="0" indent="0" algn="l" rtl="0">
              <a:spcBef>
                <a:spcPts val="0"/>
              </a:spcBef>
              <a:spcAft>
                <a:spcPts val="0"/>
              </a:spcAft>
              <a:buNone/>
            </a:pPr>
            <a:endParaRPr sz="1800" dirty="0">
              <a:solidFill>
                <a:schemeClr val="accent3"/>
              </a:solidFill>
              <a:latin typeface="Average"/>
              <a:ea typeface="Average"/>
              <a:cs typeface="Average"/>
              <a:sym typeface="Average"/>
            </a:endParaRPr>
          </a:p>
          <a:p>
            <a:pPr marL="0" lvl="0" indent="0" algn="l" rtl="0">
              <a:spcBef>
                <a:spcPts val="0"/>
              </a:spcBef>
              <a:spcAft>
                <a:spcPts val="0"/>
              </a:spcAft>
              <a:buNone/>
            </a:pPr>
            <a:r>
              <a:rPr lang="en" sz="1800" dirty="0">
                <a:solidFill>
                  <a:schemeClr val="accent3"/>
                </a:solidFill>
                <a:latin typeface="Average"/>
                <a:ea typeface="Average"/>
                <a:cs typeface="Average"/>
                <a:sym typeface="Average"/>
              </a:rPr>
              <a:t>Mitigation: </a:t>
            </a:r>
            <a:endParaRPr sz="1800" dirty="0">
              <a:solidFill>
                <a:schemeClr val="accent3"/>
              </a:solidFill>
              <a:latin typeface="Average"/>
              <a:ea typeface="Average"/>
              <a:cs typeface="Average"/>
              <a:sym typeface="Average"/>
            </a:endParaRPr>
          </a:p>
          <a:p>
            <a:pPr marL="0" lvl="0" indent="0" algn="l" rtl="0">
              <a:spcBef>
                <a:spcPts val="0"/>
              </a:spcBef>
              <a:spcAft>
                <a:spcPts val="0"/>
              </a:spcAft>
              <a:buNone/>
            </a:pPr>
            <a:endParaRPr sz="1800" dirty="0">
              <a:solidFill>
                <a:schemeClr val="accent3"/>
              </a:solidFill>
              <a:latin typeface="Average"/>
              <a:ea typeface="Average"/>
              <a:cs typeface="Average"/>
              <a:sym typeface="Average"/>
            </a:endParaRPr>
          </a:p>
          <a:p>
            <a:pPr marL="457200" lvl="0" indent="-342900" algn="l" rtl="0">
              <a:spcBef>
                <a:spcPts val="0"/>
              </a:spcBef>
              <a:spcAft>
                <a:spcPts val="0"/>
              </a:spcAft>
              <a:buClr>
                <a:schemeClr val="accent3"/>
              </a:buClr>
              <a:buSzPts val="1800"/>
              <a:buFont typeface="Average"/>
              <a:buChar char="-"/>
            </a:pPr>
            <a:r>
              <a:rPr lang="en" sz="1800" dirty="0">
                <a:solidFill>
                  <a:schemeClr val="accent3"/>
                </a:solidFill>
                <a:latin typeface="Average"/>
                <a:ea typeface="Average"/>
                <a:cs typeface="Average"/>
                <a:sym typeface="Average"/>
              </a:rPr>
              <a:t>Iterative constraint diagram analysis </a:t>
            </a:r>
            <a:endParaRPr sz="1800" dirty="0">
              <a:solidFill>
                <a:schemeClr val="accent3"/>
              </a:solidFill>
              <a:latin typeface="Average"/>
              <a:ea typeface="Average"/>
              <a:cs typeface="Average"/>
              <a:sym typeface="Average"/>
            </a:endParaRPr>
          </a:p>
          <a:p>
            <a:pPr marL="0" lvl="0" indent="0" algn="l" rtl="0">
              <a:spcBef>
                <a:spcPts val="0"/>
              </a:spcBef>
              <a:spcAft>
                <a:spcPts val="0"/>
              </a:spcAft>
              <a:buNone/>
            </a:pPr>
            <a:endParaRPr sz="1800" dirty="0">
              <a:solidFill>
                <a:schemeClr val="accent3"/>
              </a:solidFill>
              <a:latin typeface="Average"/>
              <a:ea typeface="Average"/>
              <a:cs typeface="Average"/>
              <a:sym typeface="Average"/>
            </a:endParaRPr>
          </a:p>
          <a:p>
            <a:pPr marL="457200" lvl="0" indent="-342900" algn="l" rtl="0">
              <a:spcBef>
                <a:spcPts val="0"/>
              </a:spcBef>
              <a:spcAft>
                <a:spcPts val="0"/>
              </a:spcAft>
              <a:buClr>
                <a:schemeClr val="accent3"/>
              </a:buClr>
              <a:buSzPts val="1800"/>
              <a:buFont typeface="Average"/>
              <a:buChar char="-"/>
            </a:pPr>
            <a:r>
              <a:rPr lang="en" sz="1800" dirty="0">
                <a:solidFill>
                  <a:schemeClr val="accent3"/>
                </a:solidFill>
                <a:latin typeface="Average"/>
                <a:ea typeface="Average"/>
                <a:cs typeface="Average"/>
                <a:sym typeface="Average"/>
              </a:rPr>
              <a:t>Benchmarking against existing fighter engines </a:t>
            </a:r>
            <a:endParaRPr sz="1800" dirty="0">
              <a:solidFill>
                <a:schemeClr val="accent3"/>
              </a:solidFill>
              <a:latin typeface="Average"/>
              <a:ea typeface="Average"/>
              <a:cs typeface="Average"/>
              <a:sym typeface="Average"/>
            </a:endParaRPr>
          </a:p>
        </p:txBody>
      </p:sp>
      <p:sp>
        <p:nvSpPr>
          <p:cNvPr id="209" name="Google Shape;209;p35"/>
          <p:cNvSpPr txBox="1"/>
          <p:nvPr/>
        </p:nvSpPr>
        <p:spPr>
          <a:xfrm>
            <a:off x="6189166" y="1636200"/>
            <a:ext cx="2861700" cy="3384533"/>
          </a:xfrm>
          <a:prstGeom prst="rect">
            <a:avLst/>
          </a:prstGeom>
          <a:noFill/>
          <a:ln>
            <a:solidFill>
              <a:schemeClr val="tx1"/>
            </a:solidFill>
          </a:ln>
        </p:spPr>
        <p:txBody>
          <a:bodyPr spcFirstLastPara="1" wrap="square" lIns="91425" tIns="91425" rIns="91425" bIns="91425" anchor="t" anchorCtr="0">
            <a:noAutofit/>
          </a:bodyPr>
          <a:lstStyle/>
          <a:p>
            <a:pPr marL="457200" lvl="0" indent="-342900" algn="l" rtl="0">
              <a:spcBef>
                <a:spcPts val="0"/>
              </a:spcBef>
              <a:spcAft>
                <a:spcPts val="0"/>
              </a:spcAft>
              <a:buClr>
                <a:schemeClr val="accent3"/>
              </a:buClr>
              <a:buSzPts val="1800"/>
              <a:buFont typeface="Average"/>
              <a:buChar char="-"/>
            </a:pPr>
            <a:r>
              <a:rPr lang="en" sz="1800" dirty="0">
                <a:solidFill>
                  <a:schemeClr val="accent3"/>
                </a:solidFill>
                <a:latin typeface="Average"/>
                <a:ea typeface="Average"/>
                <a:cs typeface="Average"/>
                <a:sym typeface="Average"/>
              </a:rPr>
              <a:t>Reduced survivability engine failure scenario</a:t>
            </a:r>
            <a:endParaRPr sz="1800" dirty="0">
              <a:solidFill>
                <a:schemeClr val="accent3"/>
              </a:solidFill>
              <a:latin typeface="Average"/>
              <a:ea typeface="Average"/>
              <a:cs typeface="Average"/>
              <a:sym typeface="Average"/>
            </a:endParaRPr>
          </a:p>
          <a:p>
            <a:pPr marL="457200" lvl="0" indent="0" algn="l" rtl="0">
              <a:spcBef>
                <a:spcPts val="0"/>
              </a:spcBef>
              <a:spcAft>
                <a:spcPts val="0"/>
              </a:spcAft>
              <a:buNone/>
            </a:pPr>
            <a:endParaRPr sz="1800" dirty="0">
              <a:solidFill>
                <a:schemeClr val="accent3"/>
              </a:solidFill>
              <a:latin typeface="Average"/>
              <a:ea typeface="Average"/>
              <a:cs typeface="Average"/>
              <a:sym typeface="Average"/>
            </a:endParaRPr>
          </a:p>
          <a:p>
            <a:pPr marL="0" lvl="0" indent="0" algn="l" rtl="0">
              <a:spcBef>
                <a:spcPts val="0"/>
              </a:spcBef>
              <a:spcAft>
                <a:spcPts val="0"/>
              </a:spcAft>
              <a:buNone/>
            </a:pPr>
            <a:r>
              <a:rPr lang="en" sz="1800" dirty="0">
                <a:solidFill>
                  <a:schemeClr val="accent3"/>
                </a:solidFill>
                <a:latin typeface="Average"/>
                <a:ea typeface="Average"/>
                <a:cs typeface="Average"/>
                <a:sym typeface="Average"/>
              </a:rPr>
              <a:t>Mitigation: </a:t>
            </a:r>
            <a:endParaRPr sz="1800" dirty="0">
              <a:solidFill>
                <a:schemeClr val="accent3"/>
              </a:solidFill>
              <a:latin typeface="Average"/>
              <a:ea typeface="Average"/>
              <a:cs typeface="Average"/>
              <a:sym typeface="Average"/>
            </a:endParaRPr>
          </a:p>
          <a:p>
            <a:pPr marL="0" lvl="0" indent="0" algn="l" rtl="0">
              <a:spcBef>
                <a:spcPts val="0"/>
              </a:spcBef>
              <a:spcAft>
                <a:spcPts val="0"/>
              </a:spcAft>
              <a:buNone/>
            </a:pPr>
            <a:endParaRPr sz="1800" dirty="0">
              <a:solidFill>
                <a:schemeClr val="accent3"/>
              </a:solidFill>
              <a:latin typeface="Average"/>
              <a:ea typeface="Average"/>
              <a:cs typeface="Average"/>
              <a:sym typeface="Average"/>
            </a:endParaRPr>
          </a:p>
          <a:p>
            <a:pPr marL="457200" lvl="0" indent="-342900" algn="l" rtl="0">
              <a:spcBef>
                <a:spcPts val="0"/>
              </a:spcBef>
              <a:spcAft>
                <a:spcPts val="0"/>
              </a:spcAft>
              <a:buClr>
                <a:schemeClr val="accent3"/>
              </a:buClr>
              <a:buSzPts val="1800"/>
              <a:buFont typeface="Average"/>
              <a:buChar char="-"/>
            </a:pPr>
            <a:r>
              <a:rPr lang="en" sz="1800" dirty="0">
                <a:solidFill>
                  <a:schemeClr val="accent3"/>
                </a:solidFill>
                <a:latin typeface="Average"/>
                <a:ea typeface="Average"/>
                <a:cs typeface="Average"/>
                <a:sym typeface="Average"/>
              </a:rPr>
              <a:t>Prioritize APU sizing for enhanced survivability </a:t>
            </a:r>
            <a:endParaRPr sz="1800" dirty="0">
              <a:solidFill>
                <a:schemeClr val="accent3"/>
              </a:solidFill>
              <a:latin typeface="Average"/>
              <a:ea typeface="Average"/>
              <a:cs typeface="Average"/>
              <a:sym typeface="Average"/>
            </a:endParaRPr>
          </a:p>
          <a:p>
            <a:pPr marL="0" lvl="0" indent="0" algn="l" rtl="0">
              <a:spcBef>
                <a:spcPts val="0"/>
              </a:spcBef>
              <a:spcAft>
                <a:spcPts val="0"/>
              </a:spcAft>
              <a:buNone/>
            </a:pPr>
            <a:endParaRPr sz="1800" dirty="0">
              <a:solidFill>
                <a:schemeClr val="accent3"/>
              </a:solidFill>
              <a:latin typeface="Average"/>
              <a:ea typeface="Average"/>
              <a:cs typeface="Average"/>
              <a:sym typeface="Average"/>
            </a:endParaRPr>
          </a:p>
          <a:p>
            <a:pPr marL="457200" lvl="0" indent="0" algn="l" rtl="0">
              <a:spcBef>
                <a:spcPts val="0"/>
              </a:spcBef>
              <a:spcAft>
                <a:spcPts val="0"/>
              </a:spcAft>
              <a:buNone/>
            </a:pPr>
            <a:r>
              <a:rPr lang="en" sz="1800" dirty="0">
                <a:solidFill>
                  <a:schemeClr val="accent3"/>
                </a:solidFill>
                <a:latin typeface="Average"/>
                <a:ea typeface="Average"/>
                <a:cs typeface="Average"/>
                <a:sym typeface="Average"/>
              </a:rPr>
              <a:t>  </a:t>
            </a:r>
            <a:endParaRPr sz="1800" dirty="0">
              <a:solidFill>
                <a:schemeClr val="accent3"/>
              </a:solidFill>
              <a:latin typeface="Average"/>
              <a:ea typeface="Average"/>
              <a:cs typeface="Average"/>
              <a:sym typeface="Average"/>
            </a:endParaRPr>
          </a:p>
        </p:txBody>
      </p:sp>
    </p:spTree>
    <p:extLst>
      <p:ext uri="{BB962C8B-B14F-4D97-AF65-F5344CB8AC3E}">
        <p14:creationId xmlns:p14="http://schemas.microsoft.com/office/powerpoint/2010/main" val="14877349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8"/>
        <p:cNvGrpSpPr/>
        <p:nvPr/>
      </p:nvGrpSpPr>
      <p:grpSpPr>
        <a:xfrm>
          <a:off x="0" y="0"/>
          <a:ext cx="0" cy="0"/>
          <a:chOff x="0" y="0"/>
          <a:chExt cx="0" cy="0"/>
        </a:xfrm>
      </p:grpSpPr>
      <p:sp>
        <p:nvSpPr>
          <p:cNvPr id="149" name="Google Shape;149;p27"/>
          <p:cNvSpPr txBox="1">
            <a:spLocks noGrp="1"/>
          </p:cNvSpPr>
          <p:nvPr>
            <p:ph type="title"/>
          </p:nvPr>
        </p:nvSpPr>
        <p:spPr>
          <a:xfrm>
            <a:off x="645900" y="3575414"/>
            <a:ext cx="7852200" cy="8610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 dirty="0"/>
              <a:t>Thank you.</a:t>
            </a:r>
            <a:endParaRPr dirty="0"/>
          </a:p>
        </p:txBody>
      </p:sp>
      <p:pic>
        <p:nvPicPr>
          <p:cNvPr id="3" name="Picture 2">
            <a:extLst>
              <a:ext uri="{FF2B5EF4-FFF2-40B4-BE49-F238E27FC236}">
                <a16:creationId xmlns:a16="http://schemas.microsoft.com/office/drawing/2014/main" id="{F3AA860D-91EA-EF88-2524-64B0DFDC1DC2}"/>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341" b="98352" l="7242" r="96379">
                        <a14:foregroundMark x1="74652" y1="89835" x2="74652" y2="89835"/>
                        <a14:foregroundMark x1="65599" y1="98901" x2="65599" y2="98901"/>
                        <a14:foregroundMark x1="91783" y1="89560" x2="91783" y2="89560"/>
                        <a14:foregroundMark x1="96379" y1="92582" x2="96379" y2="92582"/>
                        <a14:foregroundMark x1="7242" y1="11538" x2="7242" y2="11538"/>
                      </a14:backgroundRemoval>
                    </a14:imgEffect>
                  </a14:imgLayer>
                </a14:imgProps>
              </a:ext>
            </a:extLst>
          </a:blip>
          <a:stretch>
            <a:fillRect/>
          </a:stretch>
        </p:blipFill>
        <p:spPr>
          <a:xfrm>
            <a:off x="1735359" y="476521"/>
            <a:ext cx="5673282" cy="2876149"/>
          </a:xfrm>
          <a:prstGeom prst="rect">
            <a:avLst/>
          </a:prstGeom>
        </p:spPr>
      </p:pic>
    </p:spTree>
  </p:cSld>
  <p:clrMapOvr>
    <a:masterClrMapping/>
  </p:clrMapOvr>
</p:sld>
</file>

<file path=ppt/theme/theme1.xml><?xml version="1.0" encoding="utf-8"?>
<a:theme xmlns:a="http://schemas.openxmlformats.org/drawingml/2006/main" name="AVION Slate">
  <a:themeElements>
    <a:clrScheme name="Slate">
      <a:dk1>
        <a:srgbClr val="B08100"/>
      </a:dk1>
      <a:lt1>
        <a:srgbClr val="F5F5F5"/>
      </a:lt1>
      <a:dk2>
        <a:srgbClr val="797979"/>
      </a:dk2>
      <a:lt2>
        <a:srgbClr val="C3C3C3"/>
      </a:lt2>
      <a:accent1>
        <a:srgbClr val="2323B5"/>
      </a:accent1>
      <a:accent2>
        <a:srgbClr val="78909C"/>
      </a:accent2>
      <a:accent3>
        <a:srgbClr val="0F0F4D"/>
      </a:accent3>
      <a:accent4>
        <a:srgbClr val="2323B5"/>
      </a:accent4>
      <a:accent5>
        <a:srgbClr val="B08100"/>
      </a:accent5>
      <a:accent6>
        <a:srgbClr val="0F0F4D"/>
      </a:accent6>
      <a:hlink>
        <a:srgbClr val="D69D01"/>
      </a:hlink>
      <a:folHlink>
        <a:srgbClr val="FFD966"/>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166</TotalTime>
  <Words>857</Words>
  <Application>Microsoft Office PowerPoint</Application>
  <PresentationFormat>On-screen Show (16:9)</PresentationFormat>
  <Paragraphs>137</Paragraphs>
  <Slides>24</Slides>
  <Notes>24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DM Serif Display</vt:lpstr>
      <vt:lpstr>Average</vt:lpstr>
      <vt:lpstr>Arial</vt:lpstr>
      <vt:lpstr>Oswald</vt:lpstr>
      <vt:lpstr>AVION Slate</vt:lpstr>
      <vt:lpstr>AVION YF-52 Coyote Preliminary Design Review</vt:lpstr>
      <vt:lpstr>Objective</vt:lpstr>
      <vt:lpstr>Overview: YF-52 Coyote</vt:lpstr>
      <vt:lpstr>PowerPoint Presentation</vt:lpstr>
      <vt:lpstr>Dimensioned three-view drawing of the COYOTE</vt:lpstr>
      <vt:lpstr>Fuselage</vt:lpstr>
      <vt:lpstr>Fuselage</vt:lpstr>
      <vt:lpstr>Fuselage</vt:lpstr>
      <vt:lpstr>Powertrain</vt:lpstr>
      <vt:lpstr>Powertrain</vt:lpstr>
      <vt:lpstr>Control Surfaces</vt:lpstr>
      <vt:lpstr>Empennage (Horizontal)</vt:lpstr>
      <vt:lpstr>Empennage (Vertical)</vt:lpstr>
      <vt:lpstr>Internal Layout:</vt:lpstr>
      <vt:lpstr>Air Superiority Mission Payload:</vt:lpstr>
      <vt:lpstr>Strike Mission Payload:</vt:lpstr>
      <vt:lpstr>Preliminary Sizing:</vt:lpstr>
      <vt:lpstr>Preliminary Sizing:</vt:lpstr>
      <vt:lpstr>Drag Polar:</vt:lpstr>
      <vt:lpstr>How our design meets RFP requirements</vt:lpstr>
      <vt:lpstr>Major Innovations   </vt:lpstr>
      <vt:lpstr>Major Innovations   </vt:lpstr>
      <vt:lpstr>Risks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charlie</dc:creator>
  <cp:lastModifiedBy>Charlie Stone</cp:lastModifiedBy>
  <cp:revision>7</cp:revision>
  <dcterms:modified xsi:type="dcterms:W3CDTF">2026-03-11T17:25:40Z</dcterms:modified>
</cp:coreProperties>
</file>