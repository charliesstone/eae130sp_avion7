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8" r:id="rId3"/>
    <p:sldId id="257" r:id="rId4"/>
    <p:sldId id="278" r:id="rId5"/>
    <p:sldId id="260" r:id="rId6"/>
    <p:sldId id="261" r:id="rId7"/>
    <p:sldId id="276" r:id="rId8"/>
    <p:sldId id="277" r:id="rId9"/>
    <p:sldId id="262" r:id="rId10"/>
    <p:sldId id="275" r:id="rId11"/>
    <p:sldId id="263" r:id="rId12"/>
    <p:sldId id="264" r:id="rId13"/>
    <p:sldId id="274" r:id="rId14"/>
    <p:sldId id="265" r:id="rId15"/>
    <p:sldId id="273" r:id="rId16"/>
    <p:sldId id="272" r:id="rId17"/>
    <p:sldId id="266" r:id="rId18"/>
    <p:sldId id="271" r:id="rId19"/>
    <p:sldId id="268" r:id="rId20"/>
    <p:sldId id="279" r:id="rId21"/>
    <p:sldId id="282" r:id="rId22"/>
    <p:sldId id="283" r:id="rId23"/>
    <p:sldId id="284" r:id="rId24"/>
    <p:sldId id="270" r:id="rId25"/>
  </p:sldIdLst>
  <p:sldSz cx="9144000" cy="5143500" type="screen16x9"/>
  <p:notesSz cx="6858000" cy="9144000"/>
  <p:embeddedFontLst>
    <p:embeddedFont>
      <p:font typeface="Average" panose="020B0604020202020204" charset="0"/>
      <p:regular r:id="rId27"/>
    </p:embeddedFont>
    <p:embeddedFont>
      <p:font typeface="DM Serif Display" pitchFamily="2" charset="0"/>
      <p:regular r:id="rId28"/>
      <p:italic r:id="rId29"/>
    </p:embeddedFont>
    <p:embeddedFont>
      <p:font typeface="Oswald" panose="00000500000000000000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FF"/>
    <a:srgbClr val="F2F2F2"/>
    <a:srgbClr val="232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76" autoAdjust="0"/>
  </p:normalViewPr>
  <p:slideViewPr>
    <p:cSldViewPr snapToGrid="0">
      <p:cViewPr>
        <p:scale>
          <a:sx n="75" d="100"/>
          <a:sy n="75" d="100"/>
        </p:scale>
        <p:origin x="324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1a910dad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1a910dad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Harvey said: we do not need to include a slide about the RFP; it can just be referenced through the other slides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" dirty="0"/>
              <a:t> added costs to this slide, source: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https://www.gao.gov/blog/f-35-will-now-exceed-2-trillion-military-plans-fly-it-less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1a910da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1a910da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Source: previous and https://www.slashgear.com/1689259/f-18-super-hornet-fighter-jet-price/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F43FB3B-6B34-A7C2-D60E-B68CFA59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1a910dad_2_0:notes">
            <a:extLst>
              <a:ext uri="{FF2B5EF4-FFF2-40B4-BE49-F238E27FC236}">
                <a16:creationId xmlns:a16="http://schemas.microsoft.com/office/drawing/2014/main" id="{3A04F590-9B79-307B-F605-CF70342BC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1a910dad_2_0:notes">
            <a:extLst>
              <a:ext uri="{FF2B5EF4-FFF2-40B4-BE49-F238E27FC236}">
                <a16:creationId xmlns:a16="http://schemas.microsoft.com/office/drawing/2014/main" id="{2026A27E-93EB-C131-E993-9F11A4C96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30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d1a910dad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d1a910dad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5efde5a0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5efde5a0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CA43D35-E8E8-40F8-33B2-90F98C34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5efde5a0_3_1:notes">
            <a:extLst>
              <a:ext uri="{FF2B5EF4-FFF2-40B4-BE49-F238E27FC236}">
                <a16:creationId xmlns:a16="http://schemas.microsoft.com/office/drawing/2014/main" id="{C56957CA-FB4F-4D92-5B00-945A2F816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5efde5a0_3_1:notes">
            <a:extLst>
              <a:ext uri="{FF2B5EF4-FFF2-40B4-BE49-F238E27FC236}">
                <a16:creationId xmlns:a16="http://schemas.microsoft.com/office/drawing/2014/main" id="{A9B6AB39-F60B-0BD7-8AC7-DBA68E30C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113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6D54AA7-9A0E-2AA8-AF99-813C43FB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5efde5a0_3_1:notes">
            <a:extLst>
              <a:ext uri="{FF2B5EF4-FFF2-40B4-BE49-F238E27FC236}">
                <a16:creationId xmlns:a16="http://schemas.microsoft.com/office/drawing/2014/main" id="{CED4ACAF-2BCB-74AE-CA72-CAD8E44BB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5efde5a0_3_1:notes">
            <a:extLst>
              <a:ext uri="{FF2B5EF4-FFF2-40B4-BE49-F238E27FC236}">
                <a16:creationId xmlns:a16="http://schemas.microsoft.com/office/drawing/2014/main" id="{FC3C5EC1-148F-FD22-F9EA-B749A10A7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947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5efde5a0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5efde5a0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83331CF-31FD-F6D4-DD35-F638E376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5efde5a0_3_7:notes">
            <a:extLst>
              <a:ext uri="{FF2B5EF4-FFF2-40B4-BE49-F238E27FC236}">
                <a16:creationId xmlns:a16="http://schemas.microsoft.com/office/drawing/2014/main" id="{BBA06FB3-E6A1-971D-F3C4-5760EB4E9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5efde5a0_3_7:notes">
            <a:extLst>
              <a:ext uri="{FF2B5EF4-FFF2-40B4-BE49-F238E27FC236}">
                <a16:creationId xmlns:a16="http://schemas.microsoft.com/office/drawing/2014/main" id="{C176F3DB-9FAD-7066-920A-6378B9BDD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7939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5efde5a0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e5efde5a0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5efde5a0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e5efde5a0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Talk about: redundancy of </a:t>
            </a:r>
            <a:r>
              <a:rPr lang="en-US" dirty="0" err="1"/>
              <a:t>hstab</a:t>
            </a:r>
            <a:r>
              <a:rPr lang="en-US" dirty="0"/>
              <a:t> control surfaces, control authority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B30C9FC-ED96-93F8-87D1-79461E48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5efde5a0_3_15:notes">
            <a:extLst>
              <a:ext uri="{FF2B5EF4-FFF2-40B4-BE49-F238E27FC236}">
                <a16:creationId xmlns:a16="http://schemas.microsoft.com/office/drawing/2014/main" id="{B4F4C0BE-D378-9F87-5F8F-A9DF61B7B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e5efde5a0_3_15:notes">
            <a:extLst>
              <a:ext uri="{FF2B5EF4-FFF2-40B4-BE49-F238E27FC236}">
                <a16:creationId xmlns:a16="http://schemas.microsoft.com/office/drawing/2014/main" id="{92DEDDA8-BE40-4664-75DB-A0195A440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910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aaad5a3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aaad5a3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03B46A6-C9A9-4A78-3F24-EBB70780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aaad5a31_0_8:notes">
            <a:extLst>
              <a:ext uri="{FF2B5EF4-FFF2-40B4-BE49-F238E27FC236}">
                <a16:creationId xmlns:a16="http://schemas.microsoft.com/office/drawing/2014/main" id="{FCD11BDF-3C3B-432D-FD14-C9D964C86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aaad5a31_0_8:notes">
            <a:extLst>
              <a:ext uri="{FF2B5EF4-FFF2-40B4-BE49-F238E27FC236}">
                <a16:creationId xmlns:a16="http://schemas.microsoft.com/office/drawing/2014/main" id="{011875EF-E8D7-AB90-8EDF-EFBA756A4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839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87F05ED-80DD-5F7A-EF99-5F9CC52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aaad5a31_0_8:notes">
            <a:extLst>
              <a:ext uri="{FF2B5EF4-FFF2-40B4-BE49-F238E27FC236}">
                <a16:creationId xmlns:a16="http://schemas.microsoft.com/office/drawing/2014/main" id="{2EAD3450-3A39-84FB-D0A2-744363C16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aaad5a31_0_8:notes">
            <a:extLst>
              <a:ext uri="{FF2B5EF4-FFF2-40B4-BE49-F238E27FC236}">
                <a16:creationId xmlns:a16="http://schemas.microsoft.com/office/drawing/2014/main" id="{BCEAB8E6-8BBF-35EE-2B29-FB52E46B2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6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d1a910dad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d1a910dad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043AD2C-DEE7-34AE-8C3E-72D1599D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d1a910dad_2_85:notes">
            <a:extLst>
              <a:ext uri="{FF2B5EF4-FFF2-40B4-BE49-F238E27FC236}">
                <a16:creationId xmlns:a16="http://schemas.microsoft.com/office/drawing/2014/main" id="{F5F1E867-4F32-CE55-E8FD-9C61B1004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d1a910dad_2_85:notes">
            <a:extLst>
              <a:ext uri="{FF2B5EF4-FFF2-40B4-BE49-F238E27FC236}">
                <a16:creationId xmlns:a16="http://schemas.microsoft.com/office/drawing/2014/main" id="{E148BD10-B930-7D8C-EEC5-7023203F9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531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e4ee1fdbe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e4ee1fdbe_4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eaaad5a31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eaaad5a31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4731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eaaad5a31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eaaad5a31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383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eaaad5a3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eaaad5a3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81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eaaad5a31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eaaad5a31_2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9969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d1a910dad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d1a910dad_2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2" name="Google Shape;12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2">
            <a:alphaModFix/>
          </a:blip>
          <a:srcRect t="8352" b="9849"/>
          <a:stretch/>
        </p:blipFill>
        <p:spPr>
          <a:xfrm>
            <a:off x="8068100" y="4085725"/>
            <a:ext cx="983400" cy="953400"/>
          </a:xfrm>
          <a:prstGeom prst="ellipse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589461" y="4549100"/>
            <a:ext cx="5965077" cy="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Charlie Stone  ∙  Valeria Cecena  ∙  Quinn Kennerly</a:t>
            </a:r>
            <a:endParaRPr sz="1450" dirty="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Lena Pattamadilok  ∙  Jose Hernandez Negrete  ∙  Mostafa Hashem</a:t>
            </a:r>
            <a:endParaRPr sz="1450" dirty="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671249" y="1982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6"/>
                </a:solidFill>
              </a:rPr>
              <a:t>AVION YF-52 Coyote</a:t>
            </a:r>
            <a:endParaRPr sz="5400" dirty="0">
              <a:solidFill>
                <a:schemeClr val="accent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6"/>
                </a:solidFill>
              </a:rPr>
              <a:t>Preliminary Design Review</a:t>
            </a:r>
            <a:endParaRPr sz="2400" dirty="0">
              <a:solidFill>
                <a:schemeClr val="accent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F2181-13C6-2BB9-0D13-1104B0A25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65" b="94355" l="5101" r="96779">
                        <a14:foregroundMark x1="78121" y1="8065" x2="78121" y2="8065"/>
                        <a14:foregroundMark x1="96779" y1="44153" x2="96779" y2="44153"/>
                        <a14:foregroundMark x1="9799" y1="92339" x2="9799" y2="92339"/>
                        <a14:foregroundMark x1="5369" y1="94355" x2="5369" y2="94355"/>
                        <a14:foregroundMark x1="22685" y1="72177" x2="22685" y2="72177"/>
                        <a14:foregroundMark x1="8188" y1="86089" x2="8188" y2="86089"/>
                        <a14:foregroundMark x1="6309" y1="88911" x2="6309" y2="88911"/>
                        <a14:foregroundMark x1="5101" y1="90524" x2="5101" y2="90524"/>
                        <a14:backgroundMark x1="58523" y1="73589" x2="58523" y2="73589"/>
                        <a14:backgroundMark x1="93289" y1="48185" x2="93289" y2="48185"/>
                        <a14:backgroundMark x1="93826" y1="48185" x2="93826" y2="48185"/>
                        <a14:backgroundMark x1="93826" y1="48185" x2="93826" y2="48185"/>
                        <a14:backgroundMark x1="93826" y1="48185" x2="92483" y2="487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1734" y="1821620"/>
            <a:ext cx="3520529" cy="2343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Objective: </a:t>
            </a:r>
            <a:r>
              <a:rPr lang="en" dirty="0">
                <a:solidFill>
                  <a:srgbClr val="000000"/>
                </a:solidFill>
              </a:rPr>
              <a:t>Design a carrier-capable supersonic strike aircraft that </a:t>
            </a:r>
            <a:r>
              <a:rPr lang="en" b="1" dirty="0">
                <a:solidFill>
                  <a:srgbClr val="2323B5"/>
                </a:solidFill>
              </a:rPr>
              <a:t>breaks cost trends.</a:t>
            </a:r>
            <a:endParaRPr b="1" dirty="0">
              <a:solidFill>
                <a:srgbClr val="2323B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96169-2ACC-77F4-14ED-2732F650FC9A}"/>
              </a:ext>
            </a:extLst>
          </p:cNvPr>
          <p:cNvSpPr txBox="1"/>
          <p:nvPr/>
        </p:nvSpPr>
        <p:spPr>
          <a:xfrm>
            <a:off x="498763" y="1852998"/>
            <a:ext cx="40732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verage" panose="020B0604020202020204" charset="0"/>
              </a:rPr>
              <a:t>Performance Requirements</a:t>
            </a:r>
            <a:r>
              <a:rPr lang="en-US" sz="1800" dirty="0">
                <a:latin typeface="Average" panose="020B0604020202020204" charset="0"/>
              </a:rPr>
              <a:t>: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Mach </a:t>
            </a:r>
            <a:r>
              <a:rPr lang="en-US" sz="1800" b="1" dirty="0">
                <a:solidFill>
                  <a:schemeClr val="accent1"/>
                </a:solidFill>
                <a:latin typeface="Average" panose="020B0604020202020204" charset="0"/>
              </a:rPr>
              <a:t>1.6-2.0</a:t>
            </a:r>
            <a:r>
              <a:rPr lang="en-US" sz="1800" dirty="0">
                <a:latin typeface="Average" panose="020B0604020202020204" charset="0"/>
              </a:rPr>
              <a:t> high altitude dash capability</a:t>
            </a:r>
          </a:p>
          <a:p>
            <a:pPr marL="457200" lvl="0" indent="-342900"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Carrier compatible configuration </a:t>
            </a:r>
          </a:p>
          <a:p>
            <a:pPr marL="457200" lvl="0" indent="-342900"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TOGW under </a:t>
            </a:r>
            <a:r>
              <a:rPr lang="en-US" sz="1800" b="1" dirty="0">
                <a:solidFill>
                  <a:schemeClr val="accent1"/>
                </a:solidFill>
                <a:latin typeface="Average" panose="020B0604020202020204" charset="0"/>
              </a:rPr>
              <a:t>90,000 </a:t>
            </a:r>
            <a:r>
              <a:rPr lang="en-US" sz="1800" b="1" dirty="0" err="1">
                <a:solidFill>
                  <a:schemeClr val="accent1"/>
                </a:solidFill>
                <a:latin typeface="Average" panose="020B0604020202020204" charset="0"/>
              </a:rPr>
              <a:t>lbs</a:t>
            </a:r>
            <a:endParaRPr lang="en-US" sz="1800" b="1" dirty="0">
              <a:solidFill>
                <a:schemeClr val="accent1"/>
              </a:solidFill>
              <a:latin typeface="Average" panose="020B0604020202020204" charset="0"/>
            </a:endParaRPr>
          </a:p>
          <a:p>
            <a:pPr marL="457200" lvl="0" indent="-342900">
              <a:buSzPts val="1800"/>
              <a:buChar char="●"/>
            </a:pPr>
            <a:r>
              <a:rPr lang="en-US" sz="1800" b="1" dirty="0">
                <a:solidFill>
                  <a:schemeClr val="accent1"/>
                </a:solidFill>
                <a:latin typeface="Average" panose="020B0604020202020204" charset="0"/>
              </a:rPr>
              <a:t>700-1000 nm.</a:t>
            </a:r>
            <a:r>
              <a:rPr lang="en-US" sz="1800" dirty="0">
                <a:latin typeface="Average" panose="020B0604020202020204" charset="0"/>
              </a:rPr>
              <a:t> combat radius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66A90B-1584-A4F7-AFB1-558B85F58F2A}"/>
              </a:ext>
            </a:extLst>
          </p:cNvPr>
          <p:cNvSpPr txBox="1"/>
          <p:nvPr/>
        </p:nvSpPr>
        <p:spPr>
          <a:xfrm>
            <a:off x="4572000" y="1852998"/>
            <a:ext cx="31380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verage" panose="020B0604020202020204" charset="0"/>
              </a:rPr>
              <a:t>Cut costs lower than: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R&amp;D cost of </a:t>
            </a:r>
            <a:r>
              <a:rPr lang="en-US" sz="1800" b="1" dirty="0">
                <a:solidFill>
                  <a:srgbClr val="2323B5"/>
                </a:solidFill>
                <a:latin typeface="Average" panose="020B0604020202020204" charset="0"/>
              </a:rPr>
              <a:t>$2 trillion </a:t>
            </a:r>
            <a:r>
              <a:rPr lang="en-US" sz="1800" dirty="0">
                <a:latin typeface="Average" panose="020B0604020202020204" charset="0"/>
              </a:rPr>
              <a:t>for F-35 program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Unit flyaway cost of </a:t>
            </a:r>
            <a:r>
              <a:rPr lang="en-US" sz="1800" b="1" dirty="0">
                <a:solidFill>
                  <a:srgbClr val="2323B5"/>
                </a:solidFill>
                <a:latin typeface="Average" panose="020B0604020202020204" charset="0"/>
              </a:rPr>
              <a:t>$102 million</a:t>
            </a:r>
            <a:r>
              <a:rPr lang="en-US" sz="1800" dirty="0">
                <a:latin typeface="Average" panose="020B0604020202020204" charset="0"/>
              </a:rPr>
              <a:t> for F-35C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endParaRPr lang="en-US" sz="1800" dirty="0">
              <a:latin typeface="Average" panose="020B0604020202020204" charset="0"/>
            </a:endParaRPr>
          </a:p>
          <a:p>
            <a:pPr marL="457200" lvl="4" indent="-342900">
              <a:spcBef>
                <a:spcPts val="1200"/>
              </a:spcBef>
              <a:buSzPts val="1800"/>
              <a:buChar char="●"/>
            </a:pPr>
            <a:endParaRPr lang="en-US" sz="1800" dirty="0">
              <a:latin typeface="Average" panose="020B060402020202020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186C1-8C62-546A-252E-431AA43FEEBC}"/>
              </a:ext>
            </a:extLst>
          </p:cNvPr>
          <p:cNvSpPr txBox="1"/>
          <p:nvPr/>
        </p:nvSpPr>
        <p:spPr>
          <a:xfrm>
            <a:off x="131617" y="4821382"/>
            <a:ext cx="16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Ludwigson, Maurer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Overview: YF-52 Coyote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52B7C-0B97-6CEA-BB23-3D65A6AC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1" y="1152475"/>
            <a:ext cx="2860963" cy="245322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YF-52 Concept:</a:t>
            </a:r>
          </a:p>
          <a:p>
            <a:r>
              <a:rPr lang="en-US" dirty="0"/>
              <a:t>R&amp;D cost: </a:t>
            </a:r>
            <a:r>
              <a:rPr lang="en-US" b="1" dirty="0">
                <a:solidFill>
                  <a:schemeClr val="accent1"/>
                </a:solidFill>
              </a:rPr>
              <a:t>$27 billion</a:t>
            </a:r>
          </a:p>
          <a:p>
            <a:r>
              <a:rPr lang="en-US" dirty="0"/>
              <a:t>Unit cost: </a:t>
            </a:r>
            <a:r>
              <a:rPr lang="en-US" b="1" dirty="0">
                <a:solidFill>
                  <a:srgbClr val="00B050"/>
                </a:solidFill>
              </a:rPr>
              <a:t>$55 million</a:t>
            </a:r>
          </a:p>
          <a:p>
            <a:r>
              <a:rPr lang="en-US" dirty="0"/>
              <a:t>Gross weight: 36700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Total thrust: 33500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Engines: 1</a:t>
            </a:r>
          </a:p>
          <a:p>
            <a:r>
              <a:rPr lang="en-US" dirty="0"/>
              <a:t>Wing area: 400 sq ft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C03D598-D2E6-0A9F-E212-6E042505B8BB}"/>
              </a:ext>
            </a:extLst>
          </p:cNvPr>
          <p:cNvSpPr txBox="1">
            <a:spLocks/>
          </p:cNvSpPr>
          <p:nvPr/>
        </p:nvSpPr>
        <p:spPr>
          <a:xfrm>
            <a:off x="3266195" y="1152475"/>
            <a:ext cx="2860963" cy="2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114300" indent="0">
              <a:buNone/>
            </a:pPr>
            <a:r>
              <a:rPr lang="en-US" dirty="0"/>
              <a:t>F-35 Lightning II:</a:t>
            </a:r>
          </a:p>
          <a:p>
            <a:r>
              <a:rPr lang="en-US" dirty="0"/>
              <a:t>R&amp;D cost: </a:t>
            </a:r>
            <a:r>
              <a:rPr lang="en-US" b="1" dirty="0">
                <a:solidFill>
                  <a:srgbClr val="C00000"/>
                </a:solidFill>
              </a:rPr>
              <a:t>$2 trillion</a:t>
            </a:r>
          </a:p>
          <a:p>
            <a:r>
              <a:rPr lang="en-US" dirty="0"/>
              <a:t>Unit cost: </a:t>
            </a:r>
            <a:r>
              <a:rPr lang="en-US" b="1" dirty="0">
                <a:solidFill>
                  <a:srgbClr val="C00000"/>
                </a:solidFill>
              </a:rPr>
              <a:t>$102 million</a:t>
            </a:r>
          </a:p>
          <a:p>
            <a:r>
              <a:rPr lang="en-US" dirty="0"/>
              <a:t>Gross weight: 50000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Total thrust: 43000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Engines: 1</a:t>
            </a:r>
          </a:p>
          <a:p>
            <a:r>
              <a:rPr lang="en-US" dirty="0"/>
              <a:t>Wing area: 460 sq ft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308A59D-8FCF-F0A2-D82B-DE70FEE45AA5}"/>
              </a:ext>
            </a:extLst>
          </p:cNvPr>
          <p:cNvSpPr txBox="1">
            <a:spLocks/>
          </p:cNvSpPr>
          <p:nvPr/>
        </p:nvSpPr>
        <p:spPr>
          <a:xfrm>
            <a:off x="6220690" y="1152475"/>
            <a:ext cx="2860963" cy="2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114300" indent="0">
              <a:buNone/>
            </a:pPr>
            <a:r>
              <a:rPr lang="en-US" dirty="0"/>
              <a:t>F/A-18E/F Super Hornet:</a:t>
            </a:r>
          </a:p>
          <a:p>
            <a:r>
              <a:rPr lang="en-US" dirty="0"/>
              <a:t>R&amp;D cost: </a:t>
            </a:r>
            <a:r>
              <a:rPr lang="en-US" b="1" dirty="0">
                <a:solidFill>
                  <a:schemeClr val="accent1"/>
                </a:solidFill>
              </a:rPr>
              <a:t>$10 billion </a:t>
            </a:r>
          </a:p>
          <a:p>
            <a:r>
              <a:rPr lang="en-US" dirty="0"/>
              <a:t>Unit cost </a:t>
            </a:r>
            <a:r>
              <a:rPr lang="en-US" b="1" dirty="0">
                <a:solidFill>
                  <a:srgbClr val="C00000"/>
                </a:solidFill>
              </a:rPr>
              <a:t>$72 million </a:t>
            </a:r>
          </a:p>
          <a:p>
            <a:r>
              <a:rPr lang="en-US" dirty="0"/>
              <a:t>Gross weight 47000 </a:t>
            </a:r>
            <a:r>
              <a:rPr lang="en-US" dirty="0" err="1"/>
              <a:t>lb</a:t>
            </a:r>
            <a:r>
              <a:rPr lang="en-US" dirty="0"/>
              <a:t> </a:t>
            </a:r>
          </a:p>
          <a:p>
            <a:r>
              <a:rPr lang="en-US" dirty="0"/>
              <a:t>Total thrust: 44000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Engines: 2 </a:t>
            </a:r>
          </a:p>
          <a:p>
            <a:r>
              <a:rPr lang="en-US" dirty="0"/>
              <a:t>Wing area: 500 sq 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3524C-B3B1-99F8-C3F0-58B8CAB86D53}"/>
              </a:ext>
            </a:extLst>
          </p:cNvPr>
          <p:cNvSpPr txBox="1"/>
          <p:nvPr/>
        </p:nvSpPr>
        <p:spPr>
          <a:xfrm>
            <a:off x="131617" y="4821382"/>
            <a:ext cx="16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Hill,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25434613-082D-BF66-D46D-F5DA3F37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8059BA5-9D87-B8A5-7031-AC62CEF3EF14}"/>
              </a:ext>
            </a:extLst>
          </p:cNvPr>
          <p:cNvSpPr txBox="1">
            <a:spLocks/>
          </p:cNvSpPr>
          <p:nvPr/>
        </p:nvSpPr>
        <p:spPr>
          <a:xfrm>
            <a:off x="2122339" y="2021081"/>
            <a:ext cx="4899321" cy="8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11430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98% decrease </a:t>
            </a:r>
            <a:r>
              <a:rPr lang="en-US" sz="2400" dirty="0">
                <a:solidFill>
                  <a:schemeClr val="bg1"/>
                </a:solidFill>
              </a:rPr>
              <a:t>in development cost. 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46% decrease </a:t>
            </a:r>
            <a:r>
              <a:rPr lang="en-US" sz="2400" dirty="0">
                <a:solidFill>
                  <a:schemeClr val="bg1"/>
                </a:solidFill>
              </a:rPr>
              <a:t>in unit cost.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1A0E5-7523-5A49-2430-4EA7670AA578}"/>
              </a:ext>
            </a:extLst>
          </p:cNvPr>
          <p:cNvSpPr txBox="1"/>
          <p:nvPr/>
        </p:nvSpPr>
        <p:spPr>
          <a:xfrm>
            <a:off x="131617" y="4821382"/>
            <a:ext cx="16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Ludwigson, Maurer 2024</a:t>
            </a:r>
          </a:p>
        </p:txBody>
      </p:sp>
    </p:spTree>
    <p:extLst>
      <p:ext uri="{BB962C8B-B14F-4D97-AF65-F5344CB8AC3E}">
        <p14:creationId xmlns:p14="http://schemas.microsoft.com/office/powerpoint/2010/main" val="133604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9173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Dimensioned three-view drawing of the COYOTE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7241F-F9FD-398A-5586-F508F2842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2" y="664434"/>
            <a:ext cx="7862455" cy="4333257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986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Fuselage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445AD-653F-5DD0-9B31-8EDB82FA8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29" y="879762"/>
            <a:ext cx="7068492" cy="407519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A3427FD-C96C-242A-C274-38B6BEC1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627E143C-CE6A-7969-826A-1EC337B06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986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Fuselage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98162-8053-657F-3948-F92C17A28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29" y="879762"/>
            <a:ext cx="7068492" cy="407519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6730DF-C566-D4AE-81B8-53E26837C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29" y="879762"/>
            <a:ext cx="7071290" cy="407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4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F7D0042-2407-39FD-07F8-AECBAB71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21B17C72-CCCF-9FA2-8C57-3F5C94152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986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Fuselage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6AB01-A19D-17D2-1E4C-A0080F1F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29" y="879762"/>
            <a:ext cx="7071290" cy="4075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7E620-1153-D436-FD7B-BF91DC31DF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6" t="317" b="-1"/>
          <a:stretch>
            <a:fillRect/>
          </a:stretch>
        </p:blipFill>
        <p:spPr>
          <a:xfrm>
            <a:off x="983673" y="892700"/>
            <a:ext cx="7022148" cy="407519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2956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1188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Powertrain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17B7A-4BF0-E4DF-B0F3-BDB81DA46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79762"/>
            <a:ext cx="7061688" cy="407519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EED072-D2AA-46C0-F77E-89B7459C1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92" y="879762"/>
            <a:ext cx="7066637" cy="4075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4584C7E5-5739-5C21-5CC1-90BBDDB7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>
            <a:extLst>
              <a:ext uri="{FF2B5EF4-FFF2-40B4-BE49-F238E27FC236}">
                <a16:creationId xmlns:a16="http://schemas.microsoft.com/office/drawing/2014/main" id="{55A7E663-F9B6-9CBE-6C79-BE797971D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88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Powertrain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27C99-FB4D-F0CC-75A3-9137ADD4CE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" t="509" r="365" b="1034"/>
          <a:stretch>
            <a:fillRect/>
          </a:stretch>
        </p:blipFill>
        <p:spPr>
          <a:xfrm>
            <a:off x="969818" y="907473"/>
            <a:ext cx="7017327" cy="4024745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71257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1188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 Surfaces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AB7400-5368-8B48-33EE-1303098B6297}"/>
              </a:ext>
            </a:extLst>
          </p:cNvPr>
          <p:cNvSpPr/>
          <p:nvPr/>
        </p:nvSpPr>
        <p:spPr>
          <a:xfrm>
            <a:off x="6819900" y="3351213"/>
            <a:ext cx="114300" cy="6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E9887-A3FF-F990-D277-39C9B89EA910}"/>
              </a:ext>
            </a:extLst>
          </p:cNvPr>
          <p:cNvSpPr txBox="1"/>
          <p:nvPr/>
        </p:nvSpPr>
        <p:spPr>
          <a:xfrm>
            <a:off x="6764338" y="3304431"/>
            <a:ext cx="2794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400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981F3F-1996-7EE3-8709-59592827B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21" y="691594"/>
            <a:ext cx="6295917" cy="4267647"/>
          </a:xfrm>
          <a:prstGeom prst="rect">
            <a:avLst/>
          </a:prstGeom>
          <a:ln w="19050">
            <a:solidFill>
              <a:schemeClr val="accent3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AE9872-16C2-1F9C-F82C-FAB0EEBB3563}"/>
              </a:ext>
            </a:extLst>
          </p:cNvPr>
          <p:cNvSpPr/>
          <p:nvPr/>
        </p:nvSpPr>
        <p:spPr>
          <a:xfrm>
            <a:off x="4885267" y="795867"/>
            <a:ext cx="2048933" cy="1337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Empennage (</a:t>
            </a:r>
            <a:r>
              <a:rPr lang="en-US" dirty="0"/>
              <a:t>Horizontal)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370C2-5FA8-250B-C126-ABD68C3FF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79762"/>
            <a:ext cx="7061688" cy="407519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D3672C28-0664-D706-F620-465D66BD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>
            <a:extLst>
              <a:ext uri="{FF2B5EF4-FFF2-40B4-BE49-F238E27FC236}">
                <a16:creationId xmlns:a16="http://schemas.microsoft.com/office/drawing/2014/main" id="{7B2AB54B-9D34-0D13-E3C3-2E9EDC6E8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Empennage (</a:t>
            </a:r>
            <a:r>
              <a:rPr lang="en-US" dirty="0"/>
              <a:t>Vertical)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D872C-3585-B3D0-EB34-7BA74D164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79762"/>
            <a:ext cx="7061688" cy="407519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D277ED-1896-42E7-BC83-3FB48A891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91" y="879762"/>
            <a:ext cx="7061687" cy="407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70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1">
            <a:extLst>
              <a:ext uri="{FF2B5EF4-FFF2-40B4-BE49-F238E27FC236}">
                <a16:creationId xmlns:a16="http://schemas.microsoft.com/office/drawing/2014/main" id="{3A569D03-FE47-3FEE-5B45-3AAAB9B20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Internal Layout: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EDF082-309B-8AA5-2878-9BA07E104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1"/>
          <a:stretch>
            <a:fillRect/>
          </a:stretch>
        </p:blipFill>
        <p:spPr>
          <a:xfrm>
            <a:off x="902692" y="879763"/>
            <a:ext cx="7061688" cy="4040671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>
          <a:extLst>
            <a:ext uri="{FF2B5EF4-FFF2-40B4-BE49-F238E27FC236}">
              <a16:creationId xmlns:a16="http://schemas.microsoft.com/office/drawing/2014/main" id="{6FE38002-1D46-B30E-5474-B70E55B4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1">
            <a:extLst>
              <a:ext uri="{FF2B5EF4-FFF2-40B4-BE49-F238E27FC236}">
                <a16:creationId xmlns:a16="http://schemas.microsoft.com/office/drawing/2014/main" id="{217816B0-9DAE-60BD-D131-80005FE5D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Air Superiority Mission Payload: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FBE70-881F-F1A1-3723-A6DC4B6EE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42211"/>
            <a:ext cx="7053394" cy="405872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68206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>
          <a:extLst>
            <a:ext uri="{FF2B5EF4-FFF2-40B4-BE49-F238E27FC236}">
              <a16:creationId xmlns:a16="http://schemas.microsoft.com/office/drawing/2014/main" id="{74499127-F425-0C13-CC07-78D4DECB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1">
            <a:extLst>
              <a:ext uri="{FF2B5EF4-FFF2-40B4-BE49-F238E27FC236}">
                <a16:creationId xmlns:a16="http://schemas.microsoft.com/office/drawing/2014/main" id="{C59383AF-F574-BBE5-CA5E-D3230D4DD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Strike Mission Payload: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CE9C3E-8E6B-3C67-1231-F1510192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42211"/>
            <a:ext cx="7033813" cy="4058727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355265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1B77FA06-E804-68CE-CE64-F8CDE24502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Sizing:</a:t>
            </a:r>
            <a:endParaRPr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01062AB-F26E-39BC-2B8B-2C4AA2703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431" t="7834" r="8734" b="3845"/>
          <a:stretch>
            <a:fillRect/>
          </a:stretch>
        </p:blipFill>
        <p:spPr>
          <a:xfrm>
            <a:off x="568035" y="731375"/>
            <a:ext cx="7329056" cy="43431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971C0C83-E725-133B-5708-839C890D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24C2A7B0-3CDA-C0BA-11A3-2D5C1B82E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Sizing:</a:t>
            </a:r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1BCEFE-BDA0-541F-50A5-F7161D667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031" t="8622" r="8933" b="5729"/>
          <a:stretch>
            <a:fillRect/>
          </a:stretch>
        </p:blipFill>
        <p:spPr>
          <a:xfrm>
            <a:off x="311698" y="731374"/>
            <a:ext cx="7578465" cy="434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05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E5DC7033-32C9-7E74-188F-94F90B4D2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Drag Polar: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62854-E0C8-AC85-4E18-97D4450D9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89" t="8110" r="7895" b="2500"/>
          <a:stretch>
            <a:fillRect/>
          </a:stretch>
        </p:blipFill>
        <p:spPr>
          <a:xfrm>
            <a:off x="77002" y="731375"/>
            <a:ext cx="7892716" cy="39272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design meets RFP requirements</a:t>
            </a:r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00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Single-engine configuration (F135 class) reduces acquisition and life-cycle cost compared to twin-engine aircraft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Higher thrust-to-weight ratio (~0.93) improves maneuverability and acceleration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Combat radius ≥ 700 nmi achievable through efficient aerodynamic configuration and fuel fraction sizing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68" name="Google Shape;168;p30"/>
          <p:cNvSpPr txBox="1"/>
          <p:nvPr/>
        </p:nvSpPr>
        <p:spPr>
          <a:xfrm>
            <a:off x="4343725" y="1152475"/>
            <a:ext cx="4189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Sustained turn performance ≥ 8 deg/s meets maneuverability requirements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Carrier compatible geometry that satisfies both carriers (CVN-68 / CVN-78 ) operations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Mach 2 dash capability exceeds the required Mach 1.6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  <p:extLst>
      <p:ext uri="{BB962C8B-B14F-4D97-AF65-F5344CB8AC3E}">
        <p14:creationId xmlns:p14="http://schemas.microsoft.com/office/powerpoint/2010/main" val="60385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231000" y="100175"/>
            <a:ext cx="255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Innovations 	 </a:t>
            </a:r>
            <a:endParaRPr dirty="0"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Vortices at high AOA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Delay flow separation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 lift and maneuverability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Increased CLmax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Improved dogfight performance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Better carrier landing control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7" name="Google Shape;187;p33"/>
          <p:cNvSpPr txBox="1">
            <a:spLocks noGrp="1"/>
          </p:cNvSpPr>
          <p:nvPr>
            <p:ph type="title"/>
          </p:nvPr>
        </p:nvSpPr>
        <p:spPr>
          <a:xfrm>
            <a:off x="1788750" y="643525"/>
            <a:ext cx="55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400050" algn="ctr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Strakes/ Leading-edge root extensions </a:t>
            </a:r>
            <a:endParaRPr/>
          </a:p>
        </p:txBody>
      </p:sp>
      <p:pic>
        <p:nvPicPr>
          <p:cNvPr id="188" name="Google Shape;188;p33"/>
          <p:cNvPicPr preferRelativeResize="0"/>
          <p:nvPr/>
        </p:nvPicPr>
        <p:blipFill rotWithShape="1">
          <a:blip r:embed="rId3">
            <a:alphaModFix/>
          </a:blip>
          <a:srcRect l="4317" t="4288" r="34099"/>
          <a:stretch/>
        </p:blipFill>
        <p:spPr>
          <a:xfrm>
            <a:off x="6781375" y="1216225"/>
            <a:ext cx="2362624" cy="25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/>
          <p:nvPr/>
        </p:nvSpPr>
        <p:spPr>
          <a:xfrm>
            <a:off x="6882475" y="2127850"/>
            <a:ext cx="792300" cy="359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4660438" y="1460150"/>
            <a:ext cx="2032500" cy="26121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Aircrafts using similar system: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F/A - 18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Sukhoi Su-27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F-16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  <p:extLst>
      <p:ext uri="{BB962C8B-B14F-4D97-AF65-F5344CB8AC3E}">
        <p14:creationId xmlns:p14="http://schemas.microsoft.com/office/powerpoint/2010/main" val="2232327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title"/>
          </p:nvPr>
        </p:nvSpPr>
        <p:spPr>
          <a:xfrm>
            <a:off x="231000" y="100175"/>
            <a:ext cx="255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Innovations 	 </a:t>
            </a:r>
            <a:endParaRPr dirty="0"/>
          </a:p>
        </p:txBody>
      </p:sp>
      <p:sp>
        <p:nvSpPr>
          <p:cNvPr id="196" name="Google Shape;196;p34"/>
          <p:cNvSpPr txBox="1">
            <a:spLocks noGrp="1"/>
          </p:cNvSpPr>
          <p:nvPr>
            <p:ph type="body" idx="1"/>
          </p:nvPr>
        </p:nvSpPr>
        <p:spPr>
          <a:xfrm>
            <a:off x="333725" y="1145150"/>
            <a:ext cx="3907200" cy="3416400"/>
          </a:xfrm>
          <a:prstGeom prst="rect">
            <a:avLst/>
          </a:prstGeom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Reduce weight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Lower drag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Improved stealth potential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Reduced maintenance costs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Fewer moving components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Aircrafts using similar system: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F-35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Sukhoi Su-75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Chengdu J-20</a:t>
            </a:r>
            <a:endParaRPr/>
          </a:p>
        </p:txBody>
      </p:sp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1788750" y="643525"/>
            <a:ext cx="55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 Diverterless supersonic Engine Intakes</a:t>
            </a: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474" y="1478691"/>
            <a:ext cx="3507926" cy="2419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11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Risks</a:t>
            </a:r>
            <a:endParaRPr dirty="0"/>
          </a:p>
        </p:txBody>
      </p:sp>
      <p:sp>
        <p:nvSpPr>
          <p:cNvPr id="204" name="Google Shape;204;p35"/>
          <p:cNvSpPr txBox="1"/>
          <p:nvPr/>
        </p:nvSpPr>
        <p:spPr>
          <a:xfrm>
            <a:off x="198100" y="1107950"/>
            <a:ext cx="2861700" cy="4329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Engine failure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3193633" y="1107950"/>
            <a:ext cx="2861700" cy="4329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Engine Sizing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6189166" y="1116333"/>
            <a:ext cx="2861700" cy="4329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Auxiliary power unit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7" name="Google Shape;207;p35"/>
          <p:cNvSpPr txBox="1"/>
          <p:nvPr/>
        </p:nvSpPr>
        <p:spPr>
          <a:xfrm>
            <a:off x="190775" y="1636225"/>
            <a:ext cx="2861700" cy="33793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Higher consequences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Mitigation: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Use of modern, reliable engine (F135)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Redundant electrical and hydraulic systems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3240200" y="1631075"/>
            <a:ext cx="2861700" cy="338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Insufficient performance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Mitigation: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Iterative constraint diagram analysis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Benchmarking against existing fighter engines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6189166" y="1636200"/>
            <a:ext cx="2861700" cy="338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Reduced survivability engine failure scenario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Mitigation: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Prioritize APU sizing for enhanced survivability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 </a:t>
            </a:r>
            <a:endParaRPr sz="1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  <p:extLst>
      <p:ext uri="{BB962C8B-B14F-4D97-AF65-F5344CB8AC3E}">
        <p14:creationId xmlns:p14="http://schemas.microsoft.com/office/powerpoint/2010/main" val="1487734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645900" y="3575414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AA860D-91EA-EF88-2524-64B0DFDC1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41" b="98352" l="7242" r="96379">
                        <a14:foregroundMark x1="74652" y1="89835" x2="74652" y2="89835"/>
                        <a14:foregroundMark x1="65599" y1="98901" x2="65599" y2="98901"/>
                        <a14:foregroundMark x1="91783" y1="89560" x2="91783" y2="89560"/>
                        <a14:foregroundMark x1="96379" y1="92582" x2="96379" y2="92582"/>
                        <a14:foregroundMark x1="7242" y1="11538" x2="7242" y2="115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5359" y="476521"/>
            <a:ext cx="5673282" cy="2876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VION Slate">
  <a:themeElements>
    <a:clrScheme name="Slate">
      <a:dk1>
        <a:srgbClr val="B08100"/>
      </a:dk1>
      <a:lt1>
        <a:srgbClr val="F5F5F5"/>
      </a:lt1>
      <a:dk2>
        <a:srgbClr val="797979"/>
      </a:dk2>
      <a:lt2>
        <a:srgbClr val="C3C3C3"/>
      </a:lt2>
      <a:accent1>
        <a:srgbClr val="2323B5"/>
      </a:accent1>
      <a:accent2>
        <a:srgbClr val="78909C"/>
      </a:accent2>
      <a:accent3>
        <a:srgbClr val="0F0F4D"/>
      </a:accent3>
      <a:accent4>
        <a:srgbClr val="2323B5"/>
      </a:accent4>
      <a:accent5>
        <a:srgbClr val="B08100"/>
      </a:accent5>
      <a:accent6>
        <a:srgbClr val="0F0F4D"/>
      </a:accent6>
      <a:hlink>
        <a:srgbClr val="D69D01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555</Words>
  <Application>Microsoft Office PowerPoint</Application>
  <PresentationFormat>On-screen Show (16:9)</PresentationFormat>
  <Paragraphs>134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Average</vt:lpstr>
      <vt:lpstr>Oswald</vt:lpstr>
      <vt:lpstr>Arial</vt:lpstr>
      <vt:lpstr>DM Serif Display</vt:lpstr>
      <vt:lpstr>AVION Slate</vt:lpstr>
      <vt:lpstr>AVION YF-52 Coyote Preliminary Design Review</vt:lpstr>
      <vt:lpstr>Objective</vt:lpstr>
      <vt:lpstr>Overview: YF-52 Coyote</vt:lpstr>
      <vt:lpstr>PowerPoint Presentation</vt:lpstr>
      <vt:lpstr>Dimensioned three-view drawing of the COYOTE</vt:lpstr>
      <vt:lpstr>Fuselage</vt:lpstr>
      <vt:lpstr>Fuselage</vt:lpstr>
      <vt:lpstr>Fuselage</vt:lpstr>
      <vt:lpstr>Powertrain</vt:lpstr>
      <vt:lpstr>Powertrain</vt:lpstr>
      <vt:lpstr>Control Surfaces</vt:lpstr>
      <vt:lpstr>Empennage (Horizontal)</vt:lpstr>
      <vt:lpstr>Empennage (Vertical)</vt:lpstr>
      <vt:lpstr>Internal Layout:</vt:lpstr>
      <vt:lpstr>Air Superiority Mission Payload:</vt:lpstr>
      <vt:lpstr>Strike Mission Payload:</vt:lpstr>
      <vt:lpstr>Preliminary Sizing:</vt:lpstr>
      <vt:lpstr>Preliminary Sizing:</vt:lpstr>
      <vt:lpstr>Drag Polar:</vt:lpstr>
      <vt:lpstr>How our design meets RFP requirements</vt:lpstr>
      <vt:lpstr>Innovations   </vt:lpstr>
      <vt:lpstr>Innovations   </vt:lpstr>
      <vt:lpstr>Risks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charlie</dc:creator>
  <cp:lastModifiedBy>Charlie Stone</cp:lastModifiedBy>
  <cp:revision>7</cp:revision>
  <dcterms:modified xsi:type="dcterms:W3CDTF">2026-03-10T21:59:58Z</dcterms:modified>
</cp:coreProperties>
</file>